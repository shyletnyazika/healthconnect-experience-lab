
<file path=[Content_Types].xml><?xml version="1.0" encoding="utf-8"?>
<Types xmlns="http://schemas.openxmlformats.org/package/2006/content-types">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3785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name, track, the HealthConnect project, and the problem being addressed. Keep this to 30-45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business problem: HealthConnect wants to reduce missed appointments. My role was to build the predictive model. Keep this brief — 30-40 seconds — before moving to your technical contribution.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baseline built in Week 5, error analysis and model comparison in Week 6, tuning and testing in Week 7. Emphasize the feature-redundancy decision as your key technical judgment call. 2-3 minutes total.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two teammates on Data Analytics (Fatimah and Victorea) each suggested an interaction feature. You tested both directly. Neither helped. Explain why (tree models discover interactions on their own) and that you reported this back honestly rather than silently dropping the idea. 1-2 minutes.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tests you ran in Week 7. Emphasize that two failed tests are a legitimate, valuable outcome — not something to downplay. Name the one remaining open issue (Specialist Consultation error rate) honestly. 1-2 minutes.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your model fits into the bigger picture: it depends on Data Analytics' findings, and it's fully documented and ready for the next stage. State the business value plainly — better-targeted reminders, not a black-box gatekeeper. 1-2 minutes.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your key takeaway and what you learned. State what you'd improve with more time. Keep this to 30-45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35"/>
        </a:solidFill>
        <a:effectLst/>
      </p:bgPr>
    </p:bg>
    <p:spTree>
      <p:nvGrpSpPr>
        <p:cNvPr id="1" name=""/>
        <p:cNvGrpSpPr/>
        <p:nvPr/>
      </p:nvGrpSpPr>
      <p:grpSpPr>
        <a:xfrm>
          <a:off x="0" y="0"/>
          <a:ext cx="0" cy="0"/>
          <a:chOff x="0" y="0"/>
          <a:chExt cx="0" cy="0"/>
        </a:xfrm>
      </p:grpSpPr>
      <p:sp>
        <p:nvSpPr>
          <p:cNvPr id="2" name="Shape 0"/>
          <p:cNvSpPr/>
          <p:nvPr/>
        </p:nvSpPr>
        <p:spPr>
          <a:xfrm>
            <a:off x="9692640" y="-1645920"/>
            <a:ext cx="4114800" cy="4114800"/>
          </a:xfrm>
          <a:prstGeom prst="ellipse">
            <a:avLst/>
          </a:prstGeom>
          <a:solidFill>
            <a:srgbClr val="028090">
              <a:alpha val="45000"/>
            </a:srgbClr>
          </a:solidFill>
          <a:ln/>
        </p:spPr>
      </p:sp>
      <p:sp>
        <p:nvSpPr>
          <p:cNvPr id="3" name="Shape 1"/>
          <p:cNvSpPr/>
          <p:nvPr/>
        </p:nvSpPr>
        <p:spPr>
          <a:xfrm>
            <a:off x="-1371600" y="4754880"/>
            <a:ext cx="3200400" cy="3200400"/>
          </a:xfrm>
          <a:prstGeom prst="ellipse">
            <a:avLst/>
          </a:prstGeom>
          <a:solidFill>
            <a:srgbClr val="00A896">
              <a:alpha val="35000"/>
            </a:srgbClr>
          </a:solidFill>
          <a:ln/>
        </p:spPr>
      </p:sp>
      <p:sp>
        <p:nvSpPr>
          <p:cNvPr id="4" name="Text 2"/>
          <p:cNvSpPr txBox="1"/>
          <p:nvPr/>
        </p:nvSpPr>
        <p:spPr>
          <a:xfrm>
            <a:off x="822960" y="1965960"/>
            <a:ext cx="10515600" cy="548640"/>
          </a:xfrm>
          <a:prstGeom prst="rect">
            <a:avLst/>
          </a:prstGeom>
          <a:noFill/>
          <a:ln/>
        </p:spPr>
        <p:txBody>
          <a:bodyPr wrap="square" lIns="0" tIns="0" rIns="0" bIns="0" rtlCol="0" anchor="ctr"/>
          <a:lstStyle/>
          <a:p>
            <a:pPr marL="0" indent="0">
              <a:buNone/>
            </a:pPr>
            <a:r>
              <a:rPr lang="en-US" sz="1600" b="1" kern="0" spc="200" dirty="0">
                <a:solidFill>
                  <a:srgbClr val="02C39A"/>
                </a:solidFill>
                <a:latin typeface="Calibri" pitchFamily="34" charset="0"/>
                <a:ea typeface="Calibri" pitchFamily="34" charset="-122"/>
                <a:cs typeface="Calibri" pitchFamily="34" charset="-120"/>
              </a:rPr>
              <a:t>HealthConnect Clinic</a:t>
            </a:r>
            <a:endParaRPr lang="en-US" sz="1600" dirty="0"/>
          </a:p>
        </p:txBody>
      </p:sp>
      <p:sp>
        <p:nvSpPr>
          <p:cNvPr id="5" name="Text 3"/>
          <p:cNvSpPr txBox="1"/>
          <p:nvPr/>
        </p:nvSpPr>
        <p:spPr>
          <a:xfrm>
            <a:off x="822960" y="2423160"/>
            <a:ext cx="10515600" cy="10058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Predicting Patient No-Shows with Data &amp; AI</a:t>
            </a:r>
            <a:endParaRPr lang="en-US" sz="4000" dirty="0"/>
          </a:p>
        </p:txBody>
      </p:sp>
      <p:sp>
        <p:nvSpPr>
          <p:cNvPr id="6" name="Text 4"/>
          <p:cNvSpPr txBox="1"/>
          <p:nvPr/>
        </p:nvSpPr>
        <p:spPr>
          <a:xfrm>
            <a:off x="822960" y="3429000"/>
            <a:ext cx="10515600" cy="457200"/>
          </a:xfrm>
          <a:prstGeom prst="rect">
            <a:avLst/>
          </a:prstGeom>
          <a:noFill/>
          <a:ln/>
        </p:spPr>
        <p:txBody>
          <a:bodyPr wrap="square" lIns="0" tIns="0" rIns="0" bIns="0" rtlCol="0" anchor="ctr"/>
          <a:lstStyle/>
          <a:p>
            <a:pPr marL="0" indent="0">
              <a:buNone/>
            </a:pPr>
            <a:r>
              <a:rPr lang="en-US" sz="1800" dirty="0">
                <a:solidFill>
                  <a:srgbClr val="F7FAF9"/>
                </a:solidFill>
                <a:latin typeface="Calibri" pitchFamily="34" charset="0"/>
                <a:ea typeface="Calibri" pitchFamily="34" charset="-122"/>
                <a:cs typeface="Calibri" pitchFamily="34" charset="-120"/>
              </a:rPr>
              <a:t>Data Science Track — Final Project Presentation</a:t>
            </a:r>
            <a:endParaRPr lang="en-US" sz="1800" dirty="0"/>
          </a:p>
        </p:txBody>
      </p:sp>
      <p:sp>
        <p:nvSpPr>
          <p:cNvPr id="7" name="Shape 5"/>
          <p:cNvSpPr/>
          <p:nvPr/>
        </p:nvSpPr>
        <p:spPr>
          <a:xfrm>
            <a:off x="822960" y="4069080"/>
            <a:ext cx="548640" cy="36576"/>
          </a:xfrm>
          <a:prstGeom prst="rect">
            <a:avLst/>
          </a:prstGeom>
          <a:solidFill>
            <a:srgbClr val="02C39A"/>
          </a:solidFill>
          <a:ln/>
        </p:spPr>
      </p:sp>
      <p:sp>
        <p:nvSpPr>
          <p:cNvPr id="8" name="Text 6"/>
          <p:cNvSpPr txBox="1"/>
          <p:nvPr/>
        </p:nvSpPr>
        <p:spPr>
          <a:xfrm>
            <a:off x="822960" y="4251960"/>
            <a:ext cx="10515600" cy="365760"/>
          </a:xfrm>
          <a:prstGeom prst="rect">
            <a:avLst/>
          </a:prstGeom>
          <a:noFill/>
          <a:ln/>
        </p:spPr>
        <p:txBody>
          <a:bodyPr wrap="square" lIns="0" tIns="0" rIns="0" bIns="0" rtlCol="0" anchor="ctr"/>
          <a:lstStyle/>
          <a:p>
            <a:pPr marL="0" indent="0">
              <a:buNone/>
            </a:pPr>
            <a:r>
              <a:rPr lang="en-US" sz="1400" dirty="0">
                <a:solidFill>
                  <a:srgbClr val="5C7A80"/>
                </a:solidFill>
                <a:latin typeface="Calibri" pitchFamily="34" charset="0"/>
                <a:ea typeface="Calibri" pitchFamily="34" charset="-122"/>
                <a:cs typeface="Calibri" pitchFamily="34" charset="-120"/>
              </a:rPr>
              <a:t>Shylet Nyazika  |  AnalystLab Africa Experience Lab</a:t>
            </a:r>
            <a:endParaRPr lang="en-US" sz="1400" dirty="0"/>
          </a:p>
        </p:txBody>
      </p:sp>
      <p:pic>
        <p:nvPicPr>
          <p:cNvPr id="12" name="Audio 11">
            <a:hlinkClick r:id="" action="ppaction://media"/>
            <a:extLst>
              <a:ext uri="{FF2B5EF4-FFF2-40B4-BE49-F238E27FC236}">
                <a16:creationId xmlns:a16="http://schemas.microsoft.com/office/drawing/2014/main" id="{8D605C6E-AF2A-E6B4-F96A-28480A871138}"/>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1731"/>
    </mc:Choice>
    <mc:Fallback xmlns="">
      <p:transition spd="slow" advTm="317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548640"/>
          </a:xfrm>
          <a:prstGeom prst="rect">
            <a:avLst/>
          </a:prstGeom>
          <a:noFill/>
          <a:ln/>
        </p:spPr>
        <p:txBody>
          <a:bodyPr wrap="square" lIns="0" tIns="0" rIns="0" bIns="0" rtlCol="0" anchor="ctr"/>
          <a:lstStyle/>
          <a:p>
            <a:pPr marL="0" indent="0">
              <a:buNone/>
            </a:pPr>
            <a:r>
              <a:rPr lang="en-US" sz="3000" b="1" dirty="0">
                <a:solidFill>
                  <a:srgbClr val="1A2E35"/>
                </a:solidFill>
                <a:latin typeface="Cambria" pitchFamily="34" charset="0"/>
                <a:ea typeface="Cambria" pitchFamily="34" charset="-122"/>
                <a:cs typeface="Cambria" pitchFamily="34" charset="-120"/>
              </a:rPr>
              <a:t>The Problem</a:t>
            </a:r>
            <a:endParaRPr lang="en-US" sz="3000" dirty="0"/>
          </a:p>
        </p:txBody>
      </p:sp>
      <p:sp>
        <p:nvSpPr>
          <p:cNvPr id="3" name="Shape 1"/>
          <p:cNvSpPr/>
          <p:nvPr/>
        </p:nvSpPr>
        <p:spPr>
          <a:xfrm>
            <a:off x="0" y="1143000"/>
            <a:ext cx="12188952" cy="18288"/>
          </a:xfrm>
          <a:prstGeom prst="rect">
            <a:avLst/>
          </a:prstGeom>
          <a:solidFill>
            <a:srgbClr val="028090"/>
          </a:solidFill>
          <a:ln/>
        </p:spPr>
      </p:sp>
      <p:sp>
        <p:nvSpPr>
          <p:cNvPr id="4" name="Shape 2"/>
          <p:cNvSpPr/>
          <p:nvPr/>
        </p:nvSpPr>
        <p:spPr>
          <a:xfrm>
            <a:off x="548640" y="1554480"/>
            <a:ext cx="502920" cy="502920"/>
          </a:xfrm>
          <a:prstGeom prst="roundRect">
            <a:avLst>
              <a:gd name="adj" fmla="val 21818"/>
            </a:avLst>
          </a:prstGeom>
          <a:solidFill>
            <a:srgbClr val="00A896"/>
          </a:solidFill>
          <a:ln/>
        </p:spPr>
      </p:sp>
      <p:sp>
        <p:nvSpPr>
          <p:cNvPr id="5" name="Text 3"/>
          <p:cNvSpPr txBox="1"/>
          <p:nvPr/>
        </p:nvSpPr>
        <p:spPr>
          <a:xfrm>
            <a:off x="548640" y="15544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234440" y="1508760"/>
            <a:ext cx="9601200" cy="365760"/>
          </a:xfrm>
          <a:prstGeom prst="rect">
            <a:avLst/>
          </a:prstGeom>
          <a:noFill/>
          <a:ln/>
        </p:spPr>
        <p:txBody>
          <a:bodyPr wrap="square" lIns="0" tIns="0" rIns="0" bIns="0" rtlCol="0" anchor="ctr"/>
          <a:lstStyle/>
          <a:p>
            <a:pPr marL="0" indent="0">
              <a:buNone/>
            </a:pPr>
            <a:r>
              <a:rPr lang="en-US" sz="1800" b="1" dirty="0">
                <a:solidFill>
                  <a:srgbClr val="1A2E35"/>
                </a:solidFill>
                <a:latin typeface="Calibri" pitchFamily="34" charset="0"/>
                <a:ea typeface="Calibri" pitchFamily="34" charset="-122"/>
                <a:cs typeface="Calibri" pitchFamily="34" charset="-120"/>
              </a:rPr>
              <a:t>Missed appointments waste slots</a:t>
            </a:r>
            <a:endParaRPr lang="en-US" sz="1800" dirty="0"/>
          </a:p>
        </p:txBody>
      </p:sp>
      <p:sp>
        <p:nvSpPr>
          <p:cNvPr id="7" name="Text 5"/>
          <p:cNvSpPr txBox="1"/>
          <p:nvPr/>
        </p:nvSpPr>
        <p:spPr>
          <a:xfrm>
            <a:off x="1234440" y="1874520"/>
            <a:ext cx="9875520" cy="548640"/>
          </a:xfrm>
          <a:prstGeom prst="rect">
            <a:avLst/>
          </a:prstGeom>
          <a:noFill/>
          <a:ln/>
        </p:spPr>
        <p:txBody>
          <a:bodyPr wrap="square" lIns="0" tIns="0" rIns="0" bIns="0" rtlCol="0" anchor="ctr"/>
          <a:lstStyle/>
          <a:p>
            <a:pPr marL="0" indent="0">
              <a:buNone/>
            </a:pPr>
            <a:r>
              <a:rPr lang="en-US" sz="1400" dirty="0">
                <a:solidFill>
                  <a:srgbClr val="5C7A80"/>
                </a:solidFill>
                <a:latin typeface="Calibri" pitchFamily="34" charset="0"/>
                <a:ea typeface="Calibri" pitchFamily="34" charset="-122"/>
                <a:cs typeface="Calibri" pitchFamily="34" charset="-120"/>
              </a:rPr>
              <a:t>Every no-show is a slot another patient could have used.</a:t>
            </a:r>
            <a:endParaRPr lang="en-US" sz="1400" dirty="0"/>
          </a:p>
        </p:txBody>
      </p:sp>
      <p:sp>
        <p:nvSpPr>
          <p:cNvPr id="8" name="Shape 6"/>
          <p:cNvSpPr/>
          <p:nvPr/>
        </p:nvSpPr>
        <p:spPr>
          <a:xfrm>
            <a:off x="548640" y="2971800"/>
            <a:ext cx="502920" cy="502920"/>
          </a:xfrm>
          <a:prstGeom prst="roundRect">
            <a:avLst>
              <a:gd name="adj" fmla="val 21818"/>
            </a:avLst>
          </a:prstGeom>
          <a:solidFill>
            <a:srgbClr val="00A896"/>
          </a:solidFill>
          <a:ln/>
        </p:spPr>
      </p:sp>
      <p:sp>
        <p:nvSpPr>
          <p:cNvPr id="9" name="Text 7"/>
          <p:cNvSpPr txBox="1"/>
          <p:nvPr/>
        </p:nvSpPr>
        <p:spPr>
          <a:xfrm>
            <a:off x="548640" y="2971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1234440" y="2926080"/>
            <a:ext cx="9601200" cy="365760"/>
          </a:xfrm>
          <a:prstGeom prst="rect">
            <a:avLst/>
          </a:prstGeom>
          <a:noFill/>
          <a:ln/>
        </p:spPr>
        <p:txBody>
          <a:bodyPr wrap="square" lIns="0" tIns="0" rIns="0" bIns="0" rtlCol="0" anchor="ctr"/>
          <a:lstStyle/>
          <a:p>
            <a:pPr marL="0" indent="0">
              <a:buNone/>
            </a:pPr>
            <a:r>
              <a:rPr lang="en-US" sz="1800" b="1" dirty="0">
                <a:solidFill>
                  <a:srgbClr val="1A2E35"/>
                </a:solidFill>
                <a:latin typeface="Calibri" pitchFamily="34" charset="0"/>
                <a:ea typeface="Calibri" pitchFamily="34" charset="-122"/>
                <a:cs typeface="Calibri" pitchFamily="34" charset="-120"/>
              </a:rPr>
              <a:t>Reminders are one-size-fits-all today</a:t>
            </a:r>
            <a:endParaRPr lang="en-US" sz="1800" dirty="0"/>
          </a:p>
        </p:txBody>
      </p:sp>
      <p:sp>
        <p:nvSpPr>
          <p:cNvPr id="11" name="Text 9"/>
          <p:cNvSpPr txBox="1"/>
          <p:nvPr/>
        </p:nvSpPr>
        <p:spPr>
          <a:xfrm>
            <a:off x="1234440" y="3291840"/>
            <a:ext cx="9875520" cy="548640"/>
          </a:xfrm>
          <a:prstGeom prst="rect">
            <a:avLst/>
          </a:prstGeom>
          <a:noFill/>
          <a:ln/>
        </p:spPr>
        <p:txBody>
          <a:bodyPr wrap="square" lIns="0" tIns="0" rIns="0" bIns="0" rtlCol="0" anchor="ctr"/>
          <a:lstStyle/>
          <a:p>
            <a:pPr marL="0" indent="0">
              <a:buNone/>
            </a:pPr>
            <a:r>
              <a:rPr lang="en-US" sz="1400" dirty="0">
                <a:solidFill>
                  <a:srgbClr val="5C7A80"/>
                </a:solidFill>
                <a:latin typeface="Calibri" pitchFamily="34" charset="0"/>
                <a:ea typeface="Calibri" pitchFamily="34" charset="-122"/>
                <a:cs typeface="Calibri" pitchFamily="34" charset="-120"/>
              </a:rPr>
              <a:t>Staff can't tell in advance which patients need extra outreach.</a:t>
            </a:r>
            <a:endParaRPr lang="en-US" sz="1400" dirty="0"/>
          </a:p>
        </p:txBody>
      </p:sp>
      <p:sp>
        <p:nvSpPr>
          <p:cNvPr id="12" name="Shape 10"/>
          <p:cNvSpPr/>
          <p:nvPr/>
        </p:nvSpPr>
        <p:spPr>
          <a:xfrm>
            <a:off x="548640" y="4389120"/>
            <a:ext cx="502920" cy="502920"/>
          </a:xfrm>
          <a:prstGeom prst="roundRect">
            <a:avLst>
              <a:gd name="adj" fmla="val 21818"/>
            </a:avLst>
          </a:prstGeom>
          <a:solidFill>
            <a:srgbClr val="02C39A"/>
          </a:solidFill>
          <a:ln/>
        </p:spPr>
      </p:sp>
      <p:sp>
        <p:nvSpPr>
          <p:cNvPr id="13" name="Text 11"/>
          <p:cNvSpPr txBox="1"/>
          <p:nvPr/>
        </p:nvSpPr>
        <p:spPr>
          <a:xfrm>
            <a:off x="548640" y="43891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txBox="1"/>
          <p:nvPr/>
        </p:nvSpPr>
        <p:spPr>
          <a:xfrm>
            <a:off x="1234440" y="4343400"/>
            <a:ext cx="9601200" cy="365760"/>
          </a:xfrm>
          <a:prstGeom prst="rect">
            <a:avLst/>
          </a:prstGeom>
          <a:noFill/>
          <a:ln/>
        </p:spPr>
        <p:txBody>
          <a:bodyPr wrap="square" lIns="0" tIns="0" rIns="0" bIns="0" rtlCol="0" anchor="ctr"/>
          <a:lstStyle/>
          <a:p>
            <a:pPr marL="0" indent="0">
              <a:buNone/>
            </a:pPr>
            <a:r>
              <a:rPr lang="en-US" sz="1800" b="1" dirty="0">
                <a:solidFill>
                  <a:srgbClr val="1A2E35"/>
                </a:solidFill>
                <a:latin typeface="Calibri" pitchFamily="34" charset="0"/>
                <a:ea typeface="Calibri" pitchFamily="34" charset="-122"/>
                <a:cs typeface="Calibri" pitchFamily="34" charset="-120"/>
              </a:rPr>
              <a:t>My contribution: a risk model</a:t>
            </a:r>
            <a:endParaRPr lang="en-US" sz="1800" dirty="0"/>
          </a:p>
        </p:txBody>
      </p:sp>
      <p:sp>
        <p:nvSpPr>
          <p:cNvPr id="15" name="Text 13"/>
          <p:cNvSpPr txBox="1"/>
          <p:nvPr/>
        </p:nvSpPr>
        <p:spPr>
          <a:xfrm>
            <a:off x="1234440" y="4709160"/>
            <a:ext cx="9875520" cy="548640"/>
          </a:xfrm>
          <a:prstGeom prst="rect">
            <a:avLst/>
          </a:prstGeom>
          <a:noFill/>
          <a:ln/>
        </p:spPr>
        <p:txBody>
          <a:bodyPr wrap="square" lIns="0" tIns="0" rIns="0" bIns="0" rtlCol="0" anchor="ctr"/>
          <a:lstStyle/>
          <a:p>
            <a:pPr marL="0" indent="0">
              <a:buNone/>
            </a:pPr>
            <a:r>
              <a:rPr lang="en-US" sz="1400" dirty="0">
                <a:solidFill>
                  <a:srgbClr val="5C7A80"/>
                </a:solidFill>
                <a:latin typeface="Calibri" pitchFamily="34" charset="0"/>
                <a:ea typeface="Calibri" pitchFamily="34" charset="-122"/>
                <a:cs typeface="Calibri" pitchFamily="34" charset="-120"/>
              </a:rPr>
              <a:t>Predict, before the appointment, how likely a patient is to miss it — using only information available at booking time.</a:t>
            </a:r>
            <a:endParaRPr lang="en-US" sz="1400" dirty="0"/>
          </a:p>
        </p:txBody>
      </p:sp>
      <p:pic>
        <p:nvPicPr>
          <p:cNvPr id="18" name="Audio 17">
            <a:hlinkClick r:id="" action="ppaction://media"/>
            <a:extLst>
              <a:ext uri="{FF2B5EF4-FFF2-40B4-BE49-F238E27FC236}">
                <a16:creationId xmlns:a16="http://schemas.microsoft.com/office/drawing/2014/main" id="{D2B9707D-9DB3-6F98-35B1-68E8E0131552}"/>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914"/>
    </mc:Choice>
    <mc:Fallback>
      <p:transition spd="slow" advTm="339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548640"/>
          </a:xfrm>
          <a:prstGeom prst="rect">
            <a:avLst/>
          </a:prstGeom>
          <a:noFill/>
          <a:ln/>
        </p:spPr>
        <p:txBody>
          <a:bodyPr wrap="square" lIns="0" tIns="0" rIns="0" bIns="0" rtlCol="0" anchor="ctr"/>
          <a:lstStyle/>
          <a:p>
            <a:pPr marL="0" indent="0">
              <a:buNone/>
            </a:pPr>
            <a:r>
              <a:rPr lang="en-US" sz="3000" b="1" dirty="0">
                <a:solidFill>
                  <a:srgbClr val="1A2E35"/>
                </a:solidFill>
                <a:latin typeface="Cambria" pitchFamily="34" charset="0"/>
                <a:ea typeface="Cambria" pitchFamily="34" charset="-122"/>
                <a:cs typeface="Cambria" pitchFamily="34" charset="-120"/>
              </a:rPr>
              <a:t>My Track Contribution</a:t>
            </a:r>
            <a:endParaRPr lang="en-US" sz="3000" dirty="0"/>
          </a:p>
        </p:txBody>
      </p:sp>
      <p:sp>
        <p:nvSpPr>
          <p:cNvPr id="3" name="Text 1"/>
          <p:cNvSpPr txBox="1"/>
          <p:nvPr/>
        </p:nvSpPr>
        <p:spPr>
          <a:xfrm>
            <a:off x="548640" y="960120"/>
            <a:ext cx="9144000" cy="365760"/>
          </a:xfrm>
          <a:prstGeom prst="rect">
            <a:avLst/>
          </a:prstGeom>
          <a:noFill/>
          <a:ln/>
        </p:spPr>
        <p:txBody>
          <a:bodyPr wrap="square" lIns="0" tIns="0" rIns="0" bIns="0" rtlCol="0" anchor="ctr"/>
          <a:lstStyle/>
          <a:p>
            <a:pPr marL="0" indent="0">
              <a:buNone/>
            </a:pPr>
            <a:r>
              <a:rPr lang="en-US" sz="1500" dirty="0">
                <a:solidFill>
                  <a:srgbClr val="5C7A80"/>
                </a:solidFill>
                <a:latin typeface="Calibri" pitchFamily="34" charset="0"/>
                <a:ea typeface="Calibri" pitchFamily="34" charset="-122"/>
                <a:cs typeface="Calibri" pitchFamily="34" charset="-120"/>
              </a:rPr>
              <a:t>From baseline to tested, tuned final model</a:t>
            </a:r>
            <a:endParaRPr lang="en-US" sz="1500" dirty="0"/>
          </a:p>
        </p:txBody>
      </p:sp>
      <p:sp>
        <p:nvSpPr>
          <p:cNvPr id="4" name="Shape 2"/>
          <p:cNvSpPr/>
          <p:nvPr/>
        </p:nvSpPr>
        <p:spPr>
          <a:xfrm>
            <a:off x="548640" y="1600200"/>
            <a:ext cx="2651760" cy="1737360"/>
          </a:xfrm>
          <a:prstGeom prst="roundRect">
            <a:avLst>
              <a:gd name="adj" fmla="val 5263"/>
            </a:avLst>
          </a:prstGeom>
          <a:solidFill>
            <a:srgbClr val="F7FAF9"/>
          </a:solidFill>
          <a:ln w="12700">
            <a:solidFill>
              <a:srgbClr val="028090"/>
            </a:solidFill>
            <a:prstDash val="solid"/>
          </a:ln>
        </p:spPr>
      </p:sp>
      <p:sp>
        <p:nvSpPr>
          <p:cNvPr id="5" name="Text 3"/>
          <p:cNvSpPr txBox="1"/>
          <p:nvPr/>
        </p:nvSpPr>
        <p:spPr>
          <a:xfrm>
            <a:off x="640080" y="1783080"/>
            <a:ext cx="2468880" cy="777240"/>
          </a:xfrm>
          <a:prstGeom prst="rect">
            <a:avLst/>
          </a:prstGeom>
          <a:noFill/>
          <a:ln/>
        </p:spPr>
        <p:txBody>
          <a:bodyPr wrap="square" lIns="0" tIns="0" rIns="0" bIns="0" rtlCol="0" anchor="ctr"/>
          <a:lstStyle/>
          <a:p>
            <a:pPr marL="0" indent="0" algn="ctr">
              <a:buNone/>
            </a:pPr>
            <a:r>
              <a:rPr lang="en-US" sz="2000" b="1" dirty="0">
                <a:solidFill>
                  <a:srgbClr val="028090"/>
                </a:solidFill>
                <a:latin typeface="Calibri" pitchFamily="34" charset="0"/>
                <a:ea typeface="Calibri" pitchFamily="34" charset="-122"/>
                <a:cs typeface="Calibri" pitchFamily="34" charset="-120"/>
              </a:rPr>
              <a:t>62.4%  →  64.8%</a:t>
            </a:r>
            <a:endParaRPr lang="en-US" sz="2000" dirty="0"/>
          </a:p>
        </p:txBody>
      </p:sp>
      <p:sp>
        <p:nvSpPr>
          <p:cNvPr id="6" name="Text 4"/>
          <p:cNvSpPr txBox="1"/>
          <p:nvPr/>
        </p:nvSpPr>
        <p:spPr>
          <a:xfrm>
            <a:off x="640080" y="2651760"/>
            <a:ext cx="2468880" cy="548640"/>
          </a:xfrm>
          <a:prstGeom prst="rect">
            <a:avLst/>
          </a:prstGeom>
          <a:noFill/>
          <a:ln/>
        </p:spPr>
        <p:txBody>
          <a:bodyPr wrap="square" lIns="0" tIns="0" rIns="0" bIns="0" rtlCol="0" anchor="ctr"/>
          <a:lstStyle/>
          <a:p>
            <a:pPr marL="0" indent="0" algn="ctr">
              <a:buNone/>
            </a:pPr>
            <a:r>
              <a:rPr lang="en-US" sz="1300" dirty="0">
                <a:solidFill>
                  <a:srgbClr val="5C7A80"/>
                </a:solidFill>
                <a:latin typeface="Calibri" pitchFamily="34" charset="0"/>
                <a:ea typeface="Calibri" pitchFamily="34" charset="-122"/>
                <a:cs typeface="Calibri" pitchFamily="34" charset="-120"/>
              </a:rPr>
              <a:t>Accuracy</a:t>
            </a:r>
            <a:endParaRPr lang="en-US" sz="1300" dirty="0"/>
          </a:p>
        </p:txBody>
      </p:sp>
      <p:sp>
        <p:nvSpPr>
          <p:cNvPr id="7" name="Shape 5"/>
          <p:cNvSpPr/>
          <p:nvPr/>
        </p:nvSpPr>
        <p:spPr>
          <a:xfrm>
            <a:off x="3337560" y="1600200"/>
            <a:ext cx="2651760" cy="1737360"/>
          </a:xfrm>
          <a:prstGeom prst="roundRect">
            <a:avLst>
              <a:gd name="adj" fmla="val 5263"/>
            </a:avLst>
          </a:prstGeom>
          <a:solidFill>
            <a:srgbClr val="F7FAF9"/>
          </a:solidFill>
          <a:ln w="12700">
            <a:solidFill>
              <a:srgbClr val="028090"/>
            </a:solidFill>
            <a:prstDash val="solid"/>
          </a:ln>
        </p:spPr>
      </p:sp>
      <p:sp>
        <p:nvSpPr>
          <p:cNvPr id="8" name="Text 6"/>
          <p:cNvSpPr txBox="1"/>
          <p:nvPr/>
        </p:nvSpPr>
        <p:spPr>
          <a:xfrm>
            <a:off x="3429000" y="1783080"/>
            <a:ext cx="2468880" cy="777240"/>
          </a:xfrm>
          <a:prstGeom prst="rect">
            <a:avLst/>
          </a:prstGeom>
          <a:noFill/>
          <a:ln/>
        </p:spPr>
        <p:txBody>
          <a:bodyPr wrap="square" lIns="0" tIns="0" rIns="0" bIns="0" rtlCol="0" anchor="ctr"/>
          <a:lstStyle/>
          <a:p>
            <a:pPr marL="0" indent="0" algn="ctr">
              <a:buNone/>
            </a:pPr>
            <a:r>
              <a:rPr lang="en-US" sz="2000" b="1" dirty="0">
                <a:solidFill>
                  <a:srgbClr val="028090"/>
                </a:solidFill>
                <a:latin typeface="Calibri" pitchFamily="34" charset="0"/>
                <a:ea typeface="Calibri" pitchFamily="34" charset="-122"/>
                <a:cs typeface="Calibri" pitchFamily="34" charset="-120"/>
              </a:rPr>
              <a:t>0.677  →  0.687</a:t>
            </a:r>
            <a:endParaRPr lang="en-US" sz="2000" dirty="0"/>
          </a:p>
        </p:txBody>
      </p:sp>
      <p:sp>
        <p:nvSpPr>
          <p:cNvPr id="9" name="Text 7"/>
          <p:cNvSpPr txBox="1"/>
          <p:nvPr/>
        </p:nvSpPr>
        <p:spPr>
          <a:xfrm>
            <a:off x="3429000" y="2651760"/>
            <a:ext cx="2468880" cy="548640"/>
          </a:xfrm>
          <a:prstGeom prst="rect">
            <a:avLst/>
          </a:prstGeom>
          <a:noFill/>
          <a:ln/>
        </p:spPr>
        <p:txBody>
          <a:bodyPr wrap="square" lIns="0" tIns="0" rIns="0" bIns="0" rtlCol="0" anchor="ctr"/>
          <a:lstStyle/>
          <a:p>
            <a:pPr marL="0" indent="0" algn="ctr">
              <a:buNone/>
            </a:pPr>
            <a:r>
              <a:rPr lang="en-US" sz="1300" dirty="0">
                <a:solidFill>
                  <a:srgbClr val="5C7A80"/>
                </a:solidFill>
                <a:latin typeface="Calibri" pitchFamily="34" charset="0"/>
                <a:ea typeface="Calibri" pitchFamily="34" charset="-122"/>
                <a:cs typeface="Calibri" pitchFamily="34" charset="-120"/>
              </a:rPr>
              <a:t>ROC-AUC</a:t>
            </a:r>
            <a:endParaRPr lang="en-US" sz="1300" dirty="0"/>
          </a:p>
        </p:txBody>
      </p:sp>
      <p:sp>
        <p:nvSpPr>
          <p:cNvPr id="10" name="Shape 8"/>
          <p:cNvSpPr/>
          <p:nvPr/>
        </p:nvSpPr>
        <p:spPr>
          <a:xfrm>
            <a:off x="6126480" y="1600200"/>
            <a:ext cx="2651760" cy="1737360"/>
          </a:xfrm>
          <a:prstGeom prst="roundRect">
            <a:avLst>
              <a:gd name="adj" fmla="val 5263"/>
            </a:avLst>
          </a:prstGeom>
          <a:solidFill>
            <a:srgbClr val="F7FAF9"/>
          </a:solidFill>
          <a:ln w="12700">
            <a:solidFill>
              <a:srgbClr val="028090"/>
            </a:solidFill>
            <a:prstDash val="solid"/>
          </a:ln>
        </p:spPr>
      </p:sp>
      <p:sp>
        <p:nvSpPr>
          <p:cNvPr id="11" name="Text 9"/>
          <p:cNvSpPr txBox="1"/>
          <p:nvPr/>
        </p:nvSpPr>
        <p:spPr>
          <a:xfrm>
            <a:off x="6217920" y="1783080"/>
            <a:ext cx="2468880" cy="777240"/>
          </a:xfrm>
          <a:prstGeom prst="rect">
            <a:avLst/>
          </a:prstGeom>
          <a:noFill/>
          <a:ln/>
        </p:spPr>
        <p:txBody>
          <a:bodyPr wrap="square" lIns="0" tIns="0" rIns="0" bIns="0" rtlCol="0" anchor="ctr"/>
          <a:lstStyle/>
          <a:p>
            <a:pPr marL="0" indent="0" algn="ctr">
              <a:buNone/>
            </a:pPr>
            <a:r>
              <a:rPr lang="en-US" sz="3000" b="1" dirty="0">
                <a:solidFill>
                  <a:srgbClr val="028090"/>
                </a:solidFill>
                <a:latin typeface="Calibri" pitchFamily="34" charset="0"/>
                <a:ea typeface="Calibri" pitchFamily="34" charset="-122"/>
                <a:cs typeface="Calibri" pitchFamily="34" charset="-120"/>
              </a:rPr>
              <a:t>3</a:t>
            </a:r>
            <a:endParaRPr lang="en-US" sz="3000" dirty="0"/>
          </a:p>
        </p:txBody>
      </p:sp>
      <p:sp>
        <p:nvSpPr>
          <p:cNvPr id="12" name="Text 10"/>
          <p:cNvSpPr txBox="1"/>
          <p:nvPr/>
        </p:nvSpPr>
        <p:spPr>
          <a:xfrm>
            <a:off x="6217920" y="2651760"/>
            <a:ext cx="2468880" cy="548640"/>
          </a:xfrm>
          <a:prstGeom prst="rect">
            <a:avLst/>
          </a:prstGeom>
          <a:noFill/>
          <a:ln/>
        </p:spPr>
        <p:txBody>
          <a:bodyPr wrap="square" lIns="0" tIns="0" rIns="0" bIns="0" rtlCol="0" anchor="ctr"/>
          <a:lstStyle/>
          <a:p>
            <a:pPr marL="0" indent="0" algn="ctr">
              <a:buNone/>
            </a:pPr>
            <a:r>
              <a:rPr lang="en-US" sz="1300" dirty="0">
                <a:solidFill>
                  <a:srgbClr val="5C7A80"/>
                </a:solidFill>
                <a:latin typeface="Calibri" pitchFamily="34" charset="0"/>
                <a:ea typeface="Calibri" pitchFamily="34" charset="-122"/>
                <a:cs typeface="Calibri" pitchFamily="34" charset="-120"/>
              </a:rPr>
              <a:t>Model families compared</a:t>
            </a:r>
            <a:endParaRPr lang="en-US" sz="1300" dirty="0"/>
          </a:p>
        </p:txBody>
      </p:sp>
      <p:sp>
        <p:nvSpPr>
          <p:cNvPr id="13" name="Shape 11"/>
          <p:cNvSpPr/>
          <p:nvPr/>
        </p:nvSpPr>
        <p:spPr>
          <a:xfrm>
            <a:off x="8915400" y="1600200"/>
            <a:ext cx="2651760" cy="1737360"/>
          </a:xfrm>
          <a:prstGeom prst="roundRect">
            <a:avLst>
              <a:gd name="adj" fmla="val 5263"/>
            </a:avLst>
          </a:prstGeom>
          <a:solidFill>
            <a:srgbClr val="F7FAF9"/>
          </a:solidFill>
          <a:ln w="12700">
            <a:solidFill>
              <a:srgbClr val="028090"/>
            </a:solidFill>
            <a:prstDash val="solid"/>
          </a:ln>
        </p:spPr>
      </p:sp>
      <p:sp>
        <p:nvSpPr>
          <p:cNvPr id="14" name="Text 12"/>
          <p:cNvSpPr txBox="1"/>
          <p:nvPr/>
        </p:nvSpPr>
        <p:spPr>
          <a:xfrm>
            <a:off x="9006840" y="1783080"/>
            <a:ext cx="2468880" cy="777240"/>
          </a:xfrm>
          <a:prstGeom prst="rect">
            <a:avLst/>
          </a:prstGeom>
          <a:noFill/>
          <a:ln/>
        </p:spPr>
        <p:txBody>
          <a:bodyPr wrap="square" lIns="0" tIns="0" rIns="0" bIns="0" rtlCol="0" anchor="ctr"/>
          <a:lstStyle/>
          <a:p>
            <a:pPr marL="0" indent="0" algn="ctr">
              <a:buNone/>
            </a:pPr>
            <a:r>
              <a:rPr lang="en-US" sz="3000" b="1" dirty="0">
                <a:solidFill>
                  <a:srgbClr val="028090"/>
                </a:solidFill>
                <a:latin typeface="Calibri" pitchFamily="34" charset="0"/>
                <a:ea typeface="Calibri" pitchFamily="34" charset="-122"/>
                <a:cs typeface="Calibri" pitchFamily="34" charset="-120"/>
              </a:rPr>
              <a:t>3</a:t>
            </a:r>
            <a:endParaRPr lang="en-US" sz="3000" dirty="0"/>
          </a:p>
        </p:txBody>
      </p:sp>
      <p:sp>
        <p:nvSpPr>
          <p:cNvPr id="15" name="Text 13"/>
          <p:cNvSpPr txBox="1"/>
          <p:nvPr/>
        </p:nvSpPr>
        <p:spPr>
          <a:xfrm>
            <a:off x="9006840" y="2651760"/>
            <a:ext cx="2468880" cy="548640"/>
          </a:xfrm>
          <a:prstGeom prst="rect">
            <a:avLst/>
          </a:prstGeom>
          <a:noFill/>
          <a:ln/>
        </p:spPr>
        <p:txBody>
          <a:bodyPr wrap="square" lIns="0" tIns="0" rIns="0" bIns="0" rtlCol="0" anchor="ctr"/>
          <a:lstStyle/>
          <a:p>
            <a:pPr marL="0" indent="0" algn="ctr">
              <a:buNone/>
            </a:pPr>
            <a:r>
              <a:rPr lang="en-US" sz="1300" dirty="0">
                <a:solidFill>
                  <a:srgbClr val="5C7A80"/>
                </a:solidFill>
                <a:latin typeface="Calibri" pitchFamily="34" charset="0"/>
                <a:ea typeface="Calibri" pitchFamily="34" charset="-122"/>
                <a:cs typeface="Calibri" pitchFamily="34" charset="-120"/>
              </a:rPr>
              <a:t>Explainability methods agreeing</a:t>
            </a:r>
            <a:endParaRPr lang="en-US" sz="1300" dirty="0"/>
          </a:p>
        </p:txBody>
      </p:sp>
      <p:sp>
        <p:nvSpPr>
          <p:cNvPr id="16" name="Text 14"/>
          <p:cNvSpPr txBox="1"/>
          <p:nvPr/>
        </p:nvSpPr>
        <p:spPr>
          <a:xfrm>
            <a:off x="548640" y="3749040"/>
            <a:ext cx="11064240" cy="914400"/>
          </a:xfrm>
          <a:prstGeom prst="rect">
            <a:avLst/>
          </a:prstGeom>
          <a:noFill/>
          <a:ln/>
        </p:spPr>
        <p:txBody>
          <a:bodyPr wrap="square" lIns="0" tIns="0" rIns="0" bIns="0" rtlCol="0" anchor="t"/>
          <a:lstStyle/>
          <a:p>
            <a:pPr marL="0" indent="0">
              <a:buNone/>
            </a:pPr>
            <a:r>
              <a:rPr lang="en-US" sz="1400" dirty="0">
                <a:solidFill>
                  <a:srgbClr val="1A2E35"/>
                </a:solidFill>
                <a:latin typeface="Calibri" pitchFamily="34" charset="0"/>
                <a:ea typeface="Calibri" pitchFamily="34" charset="-122"/>
                <a:cs typeface="Calibri" pitchFamily="34" charset="-120"/>
              </a:rPr>
              <a:t>Key methods: patient-grouped train/test split · feature engineering (historical no-show rate) · Gradient Boosting, tuned via grid search · calibration &amp; explainability testing (permutation importance, SHAP)</a:t>
            </a:r>
            <a:endParaRPr lang="en-US" sz="1400" dirty="0"/>
          </a:p>
        </p:txBody>
      </p:sp>
      <p:sp>
        <p:nvSpPr>
          <p:cNvPr id="17" name="Shape 15"/>
          <p:cNvSpPr/>
          <p:nvPr/>
        </p:nvSpPr>
        <p:spPr>
          <a:xfrm>
            <a:off x="548640" y="4846320"/>
            <a:ext cx="11064240" cy="1280160"/>
          </a:xfrm>
          <a:prstGeom prst="roundRect">
            <a:avLst>
              <a:gd name="adj" fmla="val 5714"/>
            </a:avLst>
          </a:prstGeom>
          <a:solidFill>
            <a:srgbClr val="1A2E35"/>
          </a:solidFill>
          <a:ln/>
        </p:spPr>
      </p:sp>
      <p:sp>
        <p:nvSpPr>
          <p:cNvPr id="18" name="Text 16"/>
          <p:cNvSpPr txBox="1"/>
          <p:nvPr/>
        </p:nvSpPr>
        <p:spPr>
          <a:xfrm>
            <a:off x="822960" y="4983480"/>
            <a:ext cx="10515600" cy="1005840"/>
          </a:xfrm>
          <a:prstGeom prst="rect">
            <a:avLst/>
          </a:prstGeom>
          <a:noFill/>
          <a:ln/>
        </p:spPr>
        <p:txBody>
          <a:bodyPr wrap="square" lIns="0" tIns="0" rIns="0" bIns="0" rtlCol="0" anchor="ctr"/>
          <a:lstStyle/>
          <a:p>
            <a:pPr marL="0" indent="0">
              <a:buNone/>
            </a:pPr>
            <a:r>
              <a:rPr lang="en-US" sz="1400" i="1" dirty="0">
                <a:solidFill>
                  <a:srgbClr val="F7FAF9"/>
                </a:solidFill>
                <a:latin typeface="Calibri" pitchFamily="34" charset="0"/>
                <a:ea typeface="Calibri" pitchFamily="34" charset="-122"/>
                <a:cs typeface="Calibri" pitchFamily="34" charset="-120"/>
              </a:rPr>
              <a:t>Most important decision: resolved a feature redundancy with direct evidence — tested combining two similar features vs. using each alone. Combining them hurt performance, so I dropped one based on the numbers, not intuition.</a:t>
            </a:r>
            <a:endParaRPr lang="en-US" sz="1400" dirty="0"/>
          </a:p>
        </p:txBody>
      </p:sp>
      <p:pic>
        <p:nvPicPr>
          <p:cNvPr id="20" name="Audio 19">
            <a:hlinkClick r:id="" action="ppaction://media"/>
            <a:extLst>
              <a:ext uri="{FF2B5EF4-FFF2-40B4-BE49-F238E27FC236}">
                <a16:creationId xmlns:a16="http://schemas.microsoft.com/office/drawing/2014/main" id="{64C31BBC-A7DF-1CBF-DEE8-4833B1F70178}"/>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71602"/>
    </mc:Choice>
    <mc:Fallback xmlns="">
      <p:transition spd="slow" advTm="716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548640"/>
          </a:xfrm>
          <a:prstGeom prst="rect">
            <a:avLst/>
          </a:prstGeom>
          <a:noFill/>
          <a:ln/>
        </p:spPr>
        <p:txBody>
          <a:bodyPr wrap="square" lIns="0" tIns="0" rIns="0" bIns="0" rtlCol="0" anchor="ctr"/>
          <a:lstStyle/>
          <a:p>
            <a:pPr marL="0" indent="0">
              <a:buNone/>
            </a:pPr>
            <a:r>
              <a:rPr lang="en-US" sz="3000" b="1" dirty="0">
                <a:solidFill>
                  <a:srgbClr val="1A2E35"/>
                </a:solidFill>
                <a:latin typeface="Cambria" pitchFamily="34" charset="0"/>
                <a:ea typeface="Cambria" pitchFamily="34" charset="-122"/>
                <a:cs typeface="Cambria" pitchFamily="34" charset="-120"/>
              </a:rPr>
              <a:t>Cross-Track Collaboration</a:t>
            </a:r>
            <a:endParaRPr lang="en-US" sz="3000" dirty="0"/>
          </a:p>
        </p:txBody>
      </p:sp>
      <p:sp>
        <p:nvSpPr>
          <p:cNvPr id="3" name="Text 1"/>
          <p:cNvSpPr txBox="1"/>
          <p:nvPr/>
        </p:nvSpPr>
        <p:spPr>
          <a:xfrm>
            <a:off x="548640" y="960120"/>
            <a:ext cx="9144000" cy="365760"/>
          </a:xfrm>
          <a:prstGeom prst="rect">
            <a:avLst/>
          </a:prstGeom>
          <a:noFill/>
          <a:ln/>
        </p:spPr>
        <p:txBody>
          <a:bodyPr wrap="square" lIns="0" tIns="0" rIns="0" bIns="0" rtlCol="0" anchor="ctr"/>
          <a:lstStyle/>
          <a:p>
            <a:pPr marL="0" indent="0">
              <a:buNone/>
            </a:pPr>
            <a:r>
              <a:rPr lang="en-US" sz="1500" dirty="0">
                <a:solidFill>
                  <a:srgbClr val="5C7A80"/>
                </a:solidFill>
                <a:latin typeface="Calibri" pitchFamily="34" charset="0"/>
                <a:ea typeface="Calibri" pitchFamily="34" charset="-122"/>
                <a:cs typeface="Calibri" pitchFamily="34" charset="-120"/>
              </a:rPr>
              <a:t>Data Analytics  →  Data Science</a:t>
            </a:r>
            <a:endParaRPr lang="en-US" sz="1500" dirty="0"/>
          </a:p>
        </p:txBody>
      </p:sp>
      <p:sp>
        <p:nvSpPr>
          <p:cNvPr id="4" name="Shape 2"/>
          <p:cNvSpPr/>
          <p:nvPr/>
        </p:nvSpPr>
        <p:spPr>
          <a:xfrm>
            <a:off x="822960" y="1645920"/>
            <a:ext cx="3108960" cy="640080"/>
          </a:xfrm>
          <a:prstGeom prst="roundRect">
            <a:avLst>
              <a:gd name="adj" fmla="val 50000"/>
            </a:avLst>
          </a:prstGeom>
          <a:solidFill>
            <a:srgbClr val="00A896"/>
          </a:solidFill>
          <a:ln/>
        </p:spPr>
      </p:sp>
      <p:sp>
        <p:nvSpPr>
          <p:cNvPr id="5" name="Text 3"/>
          <p:cNvSpPr txBox="1"/>
          <p:nvPr/>
        </p:nvSpPr>
        <p:spPr>
          <a:xfrm>
            <a:off x="822960" y="1645920"/>
            <a:ext cx="310896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Received</a:t>
            </a:r>
            <a:endParaRPr lang="en-US" sz="1600" dirty="0"/>
          </a:p>
        </p:txBody>
      </p:sp>
      <p:sp>
        <p:nvSpPr>
          <p:cNvPr id="6" name="Text 4"/>
          <p:cNvSpPr txBox="1"/>
          <p:nvPr/>
        </p:nvSpPr>
        <p:spPr>
          <a:xfrm>
            <a:off x="3931920" y="1645920"/>
            <a:ext cx="457200" cy="640080"/>
          </a:xfrm>
          <a:prstGeom prst="rect">
            <a:avLst/>
          </a:prstGeom>
          <a:noFill/>
          <a:ln/>
        </p:spPr>
        <p:txBody>
          <a:bodyPr wrap="square" lIns="0" tIns="0" rIns="0" bIns="0" rtlCol="0" anchor="ctr"/>
          <a:lstStyle/>
          <a:p>
            <a:pPr marL="0" indent="0" algn="ctr">
              <a:buNone/>
            </a:pPr>
            <a:r>
              <a:rPr lang="en-US" sz="2200" dirty="0">
                <a:solidFill>
                  <a:srgbClr val="1A2E35"/>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4389120" y="1645920"/>
            <a:ext cx="3108960" cy="640080"/>
          </a:xfrm>
          <a:prstGeom prst="roundRect">
            <a:avLst>
              <a:gd name="adj" fmla="val 50000"/>
            </a:avLst>
          </a:prstGeom>
          <a:solidFill>
            <a:srgbClr val="02C39A"/>
          </a:solidFill>
          <a:ln/>
        </p:spPr>
      </p:sp>
      <p:sp>
        <p:nvSpPr>
          <p:cNvPr id="8" name="Text 6"/>
          <p:cNvSpPr txBox="1"/>
          <p:nvPr/>
        </p:nvSpPr>
        <p:spPr>
          <a:xfrm>
            <a:off x="4389120" y="1645920"/>
            <a:ext cx="310896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Tested</a:t>
            </a:r>
            <a:endParaRPr lang="en-US" sz="1600" dirty="0"/>
          </a:p>
        </p:txBody>
      </p:sp>
      <p:sp>
        <p:nvSpPr>
          <p:cNvPr id="9" name="Text 7"/>
          <p:cNvSpPr txBox="1"/>
          <p:nvPr/>
        </p:nvSpPr>
        <p:spPr>
          <a:xfrm>
            <a:off x="7498080" y="1645920"/>
            <a:ext cx="457200" cy="640080"/>
          </a:xfrm>
          <a:prstGeom prst="rect">
            <a:avLst/>
          </a:prstGeom>
          <a:noFill/>
          <a:ln/>
        </p:spPr>
        <p:txBody>
          <a:bodyPr wrap="square" lIns="0" tIns="0" rIns="0" bIns="0" rtlCol="0" anchor="ctr"/>
          <a:lstStyle/>
          <a:p>
            <a:pPr marL="0" indent="0" algn="ctr">
              <a:buNone/>
            </a:pPr>
            <a:r>
              <a:rPr lang="en-US" sz="2200" dirty="0">
                <a:solidFill>
                  <a:srgbClr val="1A2E35"/>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7955280" y="1645920"/>
            <a:ext cx="3108960" cy="640080"/>
          </a:xfrm>
          <a:prstGeom prst="roundRect">
            <a:avLst>
              <a:gd name="adj" fmla="val 50000"/>
            </a:avLst>
          </a:prstGeom>
          <a:solidFill>
            <a:srgbClr val="00A896"/>
          </a:solidFill>
          <a:ln/>
        </p:spPr>
      </p:sp>
      <p:sp>
        <p:nvSpPr>
          <p:cNvPr id="11" name="Text 9"/>
          <p:cNvSpPr txBox="1"/>
          <p:nvPr/>
        </p:nvSpPr>
        <p:spPr>
          <a:xfrm>
            <a:off x="7955280" y="1645920"/>
            <a:ext cx="310896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Reported Back</a:t>
            </a:r>
            <a:endParaRPr lang="en-US" sz="1600" dirty="0"/>
          </a:p>
        </p:txBody>
      </p:sp>
      <p:sp>
        <p:nvSpPr>
          <p:cNvPr id="12" name="Text 10"/>
          <p:cNvSpPr txBox="1"/>
          <p:nvPr/>
        </p:nvSpPr>
        <p:spPr>
          <a:xfrm>
            <a:off x="548640" y="2651760"/>
            <a:ext cx="11064240" cy="457200"/>
          </a:xfrm>
          <a:prstGeom prst="rect">
            <a:avLst/>
          </a:prstGeom>
          <a:noFill/>
          <a:ln/>
        </p:spPr>
        <p:txBody>
          <a:bodyPr wrap="square" lIns="0" tIns="0" rIns="0" bIns="0" rtlCol="0" anchor="ctr"/>
          <a:lstStyle/>
          <a:p>
            <a:pPr marL="0" indent="0">
              <a:buNone/>
            </a:pPr>
            <a:r>
              <a:rPr lang="en-US" sz="1500" dirty="0">
                <a:solidFill>
                  <a:srgbClr val="1A2E35"/>
                </a:solidFill>
                <a:latin typeface="Calibri" pitchFamily="34" charset="0"/>
                <a:ea typeface="Calibri" pitchFamily="34" charset="-122"/>
                <a:cs typeface="Calibri" pitchFamily="34" charset="-120"/>
              </a:rPr>
              <a:t>Two teammates on Data Analytics each found a real pattern in their segment-level analysis, and suggested it as a feature for my model:</a:t>
            </a:r>
            <a:endParaRPr lang="en-US" sz="1500" dirty="0"/>
          </a:p>
        </p:txBody>
      </p:sp>
      <p:sp>
        <p:nvSpPr>
          <p:cNvPr id="13" name="Shape 11"/>
          <p:cNvSpPr/>
          <p:nvPr/>
        </p:nvSpPr>
        <p:spPr>
          <a:xfrm>
            <a:off x="548640" y="3200400"/>
            <a:ext cx="11064240" cy="868680"/>
          </a:xfrm>
          <a:prstGeom prst="roundRect">
            <a:avLst>
              <a:gd name="adj" fmla="val 8421"/>
            </a:avLst>
          </a:prstGeom>
          <a:solidFill>
            <a:srgbClr val="FFFFFF"/>
          </a:solidFill>
          <a:ln w="9525">
            <a:solidFill>
              <a:srgbClr val="028090"/>
            </a:solidFill>
            <a:prstDash val="solid"/>
          </a:ln>
        </p:spPr>
      </p:sp>
      <p:sp>
        <p:nvSpPr>
          <p:cNvPr id="14" name="Text 12"/>
          <p:cNvSpPr txBox="1"/>
          <p:nvPr/>
        </p:nvSpPr>
        <p:spPr>
          <a:xfrm>
            <a:off x="777240" y="3310128"/>
            <a:ext cx="1828800" cy="32004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Suggestion 1</a:t>
            </a:r>
            <a:endParaRPr lang="en-US" sz="1200" dirty="0"/>
          </a:p>
        </p:txBody>
      </p:sp>
      <p:sp>
        <p:nvSpPr>
          <p:cNvPr id="15" name="Text 13"/>
          <p:cNvSpPr txBox="1"/>
          <p:nvPr/>
        </p:nvSpPr>
        <p:spPr>
          <a:xfrm>
            <a:off x="777240" y="3584448"/>
            <a:ext cx="6583680" cy="411480"/>
          </a:xfrm>
          <a:prstGeom prst="rect">
            <a:avLst/>
          </a:prstGeom>
          <a:noFill/>
          <a:ln/>
        </p:spPr>
        <p:txBody>
          <a:bodyPr wrap="square" lIns="0" tIns="0" rIns="0" bIns="0" rtlCol="0" anchor="ctr"/>
          <a:lstStyle/>
          <a:p>
            <a:pPr marL="0" indent="0">
              <a:buNone/>
            </a:pPr>
            <a:r>
              <a:rPr lang="en-US" sz="1400" dirty="0">
                <a:solidFill>
                  <a:srgbClr val="1A2E35"/>
                </a:solidFill>
                <a:latin typeface="Calibri" pitchFamily="34" charset="0"/>
                <a:ea typeface="Calibri" pitchFamily="34" charset="-122"/>
                <a:cs typeface="Calibri" pitchFamily="34" charset="-120"/>
              </a:rPr>
              <a:t>Lead time × prior no-show history compound</a:t>
            </a:r>
            <a:endParaRPr lang="en-US" sz="1400" dirty="0"/>
          </a:p>
        </p:txBody>
      </p:sp>
      <p:sp>
        <p:nvSpPr>
          <p:cNvPr id="16" name="Text 14"/>
          <p:cNvSpPr txBox="1"/>
          <p:nvPr/>
        </p:nvSpPr>
        <p:spPr>
          <a:xfrm>
            <a:off x="7498080" y="3200400"/>
            <a:ext cx="3931920" cy="868680"/>
          </a:xfrm>
          <a:prstGeom prst="rect">
            <a:avLst/>
          </a:prstGeom>
          <a:noFill/>
          <a:ln/>
        </p:spPr>
        <p:txBody>
          <a:bodyPr wrap="square" lIns="0" tIns="0" rIns="0" bIns="0" rtlCol="0" anchor="ctr"/>
          <a:lstStyle/>
          <a:p>
            <a:pPr marL="0" indent="0" algn="r">
              <a:buNone/>
            </a:pPr>
            <a:r>
              <a:rPr lang="en-US" sz="1300" i="1" dirty="0">
                <a:solidFill>
                  <a:srgbClr val="5C7A80"/>
                </a:solidFill>
                <a:latin typeface="Calibri" pitchFamily="34" charset="0"/>
                <a:ea typeface="Calibri" pitchFamily="34" charset="-122"/>
                <a:cs typeface="Calibri" pitchFamily="34" charset="-120"/>
              </a:rPr>
              <a:t>Tested — performance slightly decreased</a:t>
            </a:r>
            <a:endParaRPr lang="en-US" sz="1300" dirty="0"/>
          </a:p>
        </p:txBody>
      </p:sp>
      <p:sp>
        <p:nvSpPr>
          <p:cNvPr id="17" name="Shape 15"/>
          <p:cNvSpPr/>
          <p:nvPr/>
        </p:nvSpPr>
        <p:spPr>
          <a:xfrm>
            <a:off x="548640" y="4251960"/>
            <a:ext cx="11064240" cy="868680"/>
          </a:xfrm>
          <a:prstGeom prst="roundRect">
            <a:avLst>
              <a:gd name="adj" fmla="val 8421"/>
            </a:avLst>
          </a:prstGeom>
          <a:solidFill>
            <a:srgbClr val="FFFFFF"/>
          </a:solidFill>
          <a:ln w="9525">
            <a:solidFill>
              <a:srgbClr val="028090"/>
            </a:solidFill>
            <a:prstDash val="solid"/>
          </a:ln>
        </p:spPr>
      </p:sp>
      <p:sp>
        <p:nvSpPr>
          <p:cNvPr id="18" name="Text 16"/>
          <p:cNvSpPr txBox="1"/>
          <p:nvPr/>
        </p:nvSpPr>
        <p:spPr>
          <a:xfrm>
            <a:off x="777240" y="4361688"/>
            <a:ext cx="1828800" cy="32004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Suggestion 2</a:t>
            </a:r>
            <a:endParaRPr lang="en-US" sz="1200" dirty="0"/>
          </a:p>
        </p:txBody>
      </p:sp>
      <p:sp>
        <p:nvSpPr>
          <p:cNvPr id="19" name="Text 17"/>
          <p:cNvSpPr txBox="1"/>
          <p:nvPr/>
        </p:nvSpPr>
        <p:spPr>
          <a:xfrm>
            <a:off x="777240" y="4636008"/>
            <a:ext cx="6583680" cy="411480"/>
          </a:xfrm>
          <a:prstGeom prst="rect">
            <a:avLst/>
          </a:prstGeom>
          <a:noFill/>
          <a:ln/>
        </p:spPr>
        <p:txBody>
          <a:bodyPr wrap="square" lIns="0" tIns="0" rIns="0" bIns="0" rtlCol="0" anchor="ctr"/>
          <a:lstStyle/>
          <a:p>
            <a:pPr marL="0" indent="0">
              <a:buNone/>
            </a:pPr>
            <a:r>
              <a:rPr lang="en-US" sz="1400" dirty="0">
                <a:solidFill>
                  <a:srgbClr val="1A2E35"/>
                </a:solidFill>
                <a:latin typeface="Calibri" pitchFamily="34" charset="0"/>
                <a:ea typeface="Calibri" pitchFamily="34" charset="-122"/>
                <a:cs typeface="Calibri" pitchFamily="34" charset="-120"/>
              </a:rPr>
              <a:t>Appointment type × lead time interaction</a:t>
            </a:r>
            <a:endParaRPr lang="en-US" sz="1400" dirty="0"/>
          </a:p>
        </p:txBody>
      </p:sp>
      <p:sp>
        <p:nvSpPr>
          <p:cNvPr id="20" name="Text 18"/>
          <p:cNvSpPr txBox="1"/>
          <p:nvPr/>
        </p:nvSpPr>
        <p:spPr>
          <a:xfrm>
            <a:off x="7498080" y="4251960"/>
            <a:ext cx="3931920" cy="868680"/>
          </a:xfrm>
          <a:prstGeom prst="rect">
            <a:avLst/>
          </a:prstGeom>
          <a:noFill/>
          <a:ln/>
        </p:spPr>
        <p:txBody>
          <a:bodyPr wrap="square" lIns="0" tIns="0" rIns="0" bIns="0" rtlCol="0" anchor="ctr"/>
          <a:lstStyle/>
          <a:p>
            <a:pPr marL="0" indent="0" algn="r">
              <a:buNone/>
            </a:pPr>
            <a:r>
              <a:rPr lang="en-US" sz="1300" i="1" dirty="0">
                <a:solidFill>
                  <a:srgbClr val="5C7A80"/>
                </a:solidFill>
                <a:latin typeface="Calibri" pitchFamily="34" charset="0"/>
                <a:ea typeface="Calibri" pitchFamily="34" charset="-122"/>
                <a:cs typeface="Calibri" pitchFamily="34" charset="-120"/>
              </a:rPr>
              <a:t>Tested — zero measurable effect</a:t>
            </a:r>
            <a:endParaRPr lang="en-US" sz="1300" dirty="0"/>
          </a:p>
        </p:txBody>
      </p:sp>
      <p:sp>
        <p:nvSpPr>
          <p:cNvPr id="21" name="Text 19"/>
          <p:cNvSpPr txBox="1"/>
          <p:nvPr/>
        </p:nvSpPr>
        <p:spPr>
          <a:xfrm>
            <a:off x="548640" y="5349240"/>
            <a:ext cx="11064240" cy="548640"/>
          </a:xfrm>
          <a:prstGeom prst="rect">
            <a:avLst/>
          </a:prstGeom>
          <a:noFill/>
          <a:ln/>
        </p:spPr>
        <p:txBody>
          <a:bodyPr wrap="square" lIns="0" tIns="0" rIns="0" bIns="0" rtlCol="0" anchor="ctr"/>
          <a:lstStyle/>
          <a:p>
            <a:pPr marL="0" indent="0">
              <a:buNone/>
            </a:pPr>
            <a:r>
              <a:rPr lang="en-US" sz="1300" i="1" dirty="0">
                <a:solidFill>
                  <a:srgbClr val="5C7A80"/>
                </a:solidFill>
                <a:latin typeface="Calibri" pitchFamily="34" charset="0"/>
                <a:ea typeface="Calibri" pitchFamily="34" charset="-122"/>
                <a:cs typeface="Calibri" pitchFamily="34" charset="-120"/>
              </a:rPr>
              <a:t>Neither was adopted — Gradient Boosting already discovers these interactions internally. Reported both results back honestly, closing the loop with evidence instead of assumption.</a:t>
            </a:r>
            <a:endParaRPr lang="en-US" sz="1300" dirty="0"/>
          </a:p>
        </p:txBody>
      </p:sp>
      <p:pic>
        <p:nvPicPr>
          <p:cNvPr id="23" name="Audio 22">
            <a:hlinkClick r:id="" action="ppaction://media"/>
            <a:extLst>
              <a:ext uri="{FF2B5EF4-FFF2-40B4-BE49-F238E27FC236}">
                <a16:creationId xmlns:a16="http://schemas.microsoft.com/office/drawing/2014/main" id="{472B20D2-01D5-F272-972B-56BD7EEEF506}"/>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9959"/>
    </mc:Choice>
    <mc:Fallback xmlns="">
      <p:transition spd="slow" advTm="599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lIns="0" tIns="0" rIns="0" bIns="0" rtlCol="0" anchor="ctr"/>
          <a:lstStyle/>
          <a:p>
            <a:pPr marL="0" indent="0">
              <a:buNone/>
            </a:pPr>
            <a:r>
              <a:rPr lang="en-US" sz="2800" b="1" dirty="0">
                <a:solidFill>
                  <a:srgbClr val="1A2E35"/>
                </a:solidFill>
                <a:latin typeface="Cambria" pitchFamily="34" charset="0"/>
                <a:ea typeface="Cambria" pitchFamily="34" charset="-122"/>
                <a:cs typeface="Cambria" pitchFamily="34" charset="-120"/>
              </a:rPr>
              <a:t>Testing, Refinement &amp; Final Outcome</a:t>
            </a:r>
            <a:endParaRPr lang="en-US" sz="2800" dirty="0"/>
          </a:p>
        </p:txBody>
      </p:sp>
      <p:sp>
        <p:nvSpPr>
          <p:cNvPr id="3" name="Shape 1"/>
          <p:cNvSpPr/>
          <p:nvPr/>
        </p:nvSpPr>
        <p:spPr>
          <a:xfrm>
            <a:off x="0" y="1097280"/>
            <a:ext cx="12188952" cy="18288"/>
          </a:xfrm>
          <a:prstGeom prst="rect">
            <a:avLst/>
          </a:prstGeom>
          <a:solidFill>
            <a:srgbClr val="028090"/>
          </a:solidFill>
          <a:ln/>
        </p:spPr>
      </p:sp>
      <p:sp>
        <p:nvSpPr>
          <p:cNvPr id="4" name="Text 2"/>
          <p:cNvSpPr txBox="1"/>
          <p:nvPr/>
        </p:nvSpPr>
        <p:spPr>
          <a:xfrm>
            <a:off x="548640" y="1371600"/>
            <a:ext cx="3840480" cy="457200"/>
          </a:xfrm>
          <a:prstGeom prst="rect">
            <a:avLst/>
          </a:prstGeom>
          <a:noFill/>
          <a:ln/>
        </p:spPr>
        <p:txBody>
          <a:bodyPr wrap="square" lIns="0" tIns="0" rIns="0" bIns="0" rtlCol="0" anchor="ctr"/>
          <a:lstStyle/>
          <a:p>
            <a:pPr marL="0" indent="0">
              <a:buNone/>
            </a:pPr>
            <a:r>
              <a:rPr lang="en-US" sz="1500" b="1" dirty="0">
                <a:solidFill>
                  <a:srgbClr val="1A2E35"/>
                </a:solidFill>
                <a:latin typeface="Calibri" pitchFamily="34" charset="0"/>
                <a:ea typeface="Calibri" pitchFamily="34" charset="-122"/>
                <a:cs typeface="Calibri" pitchFamily="34" charset="-120"/>
              </a:rPr>
              <a:t>Reproduction</a:t>
            </a:r>
            <a:endParaRPr lang="en-US" sz="1500" dirty="0"/>
          </a:p>
        </p:txBody>
      </p:sp>
      <p:sp>
        <p:nvSpPr>
          <p:cNvPr id="5" name="Shape 3"/>
          <p:cNvSpPr/>
          <p:nvPr/>
        </p:nvSpPr>
        <p:spPr>
          <a:xfrm>
            <a:off x="4572000" y="1399032"/>
            <a:ext cx="4206240" cy="402336"/>
          </a:xfrm>
          <a:prstGeom prst="roundRect">
            <a:avLst>
              <a:gd name="adj" fmla="val 50000"/>
            </a:avLst>
          </a:prstGeom>
          <a:solidFill>
            <a:srgbClr val="02C39A">
              <a:alpha val="15000"/>
            </a:srgbClr>
          </a:solidFill>
          <a:ln/>
        </p:spPr>
      </p:sp>
      <p:sp>
        <p:nvSpPr>
          <p:cNvPr id="6" name="Text 4"/>
          <p:cNvSpPr txBox="1"/>
          <p:nvPr/>
        </p:nvSpPr>
        <p:spPr>
          <a:xfrm>
            <a:off x="4572000" y="1371600"/>
            <a:ext cx="4206240" cy="457200"/>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PASS</a:t>
            </a:r>
            <a:endParaRPr lang="en-US" sz="1300" dirty="0"/>
          </a:p>
        </p:txBody>
      </p:sp>
      <p:sp>
        <p:nvSpPr>
          <p:cNvPr id="7" name="Text 5"/>
          <p:cNvSpPr txBox="1"/>
          <p:nvPr/>
        </p:nvSpPr>
        <p:spPr>
          <a:xfrm>
            <a:off x="548640" y="1938528"/>
            <a:ext cx="3840480" cy="457200"/>
          </a:xfrm>
          <a:prstGeom prst="rect">
            <a:avLst/>
          </a:prstGeom>
          <a:noFill/>
          <a:ln/>
        </p:spPr>
        <p:txBody>
          <a:bodyPr wrap="square" lIns="0" tIns="0" rIns="0" bIns="0" rtlCol="0" anchor="ctr"/>
          <a:lstStyle/>
          <a:p>
            <a:pPr marL="0" indent="0">
              <a:buNone/>
            </a:pPr>
            <a:r>
              <a:rPr lang="en-US" sz="1500" b="1" dirty="0">
                <a:solidFill>
                  <a:srgbClr val="1A2E35"/>
                </a:solidFill>
                <a:latin typeface="Calibri" pitchFamily="34" charset="0"/>
                <a:ea typeface="Calibri" pitchFamily="34" charset="-122"/>
                <a:cs typeface="Calibri" pitchFamily="34" charset="-120"/>
              </a:rPr>
              <a:t>Overfitting check</a:t>
            </a:r>
            <a:endParaRPr lang="en-US" sz="1500" dirty="0"/>
          </a:p>
        </p:txBody>
      </p:sp>
      <p:sp>
        <p:nvSpPr>
          <p:cNvPr id="8" name="Shape 6"/>
          <p:cNvSpPr/>
          <p:nvPr/>
        </p:nvSpPr>
        <p:spPr>
          <a:xfrm>
            <a:off x="4572000" y="1965960"/>
            <a:ext cx="4206240" cy="402336"/>
          </a:xfrm>
          <a:prstGeom prst="roundRect">
            <a:avLst>
              <a:gd name="adj" fmla="val 50000"/>
            </a:avLst>
          </a:prstGeom>
          <a:solidFill>
            <a:srgbClr val="02C39A">
              <a:alpha val="15000"/>
            </a:srgbClr>
          </a:solidFill>
          <a:ln/>
        </p:spPr>
      </p:sp>
      <p:sp>
        <p:nvSpPr>
          <p:cNvPr id="9" name="Text 7"/>
          <p:cNvSpPr txBox="1"/>
          <p:nvPr/>
        </p:nvSpPr>
        <p:spPr>
          <a:xfrm>
            <a:off x="4572000" y="1938528"/>
            <a:ext cx="4206240" cy="457200"/>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PASS</a:t>
            </a:r>
            <a:endParaRPr lang="en-US" sz="1300" dirty="0"/>
          </a:p>
        </p:txBody>
      </p:sp>
      <p:sp>
        <p:nvSpPr>
          <p:cNvPr id="10" name="Text 8"/>
          <p:cNvSpPr txBox="1"/>
          <p:nvPr/>
        </p:nvSpPr>
        <p:spPr>
          <a:xfrm>
            <a:off x="548640" y="2505456"/>
            <a:ext cx="3840480" cy="457200"/>
          </a:xfrm>
          <a:prstGeom prst="rect">
            <a:avLst/>
          </a:prstGeom>
          <a:noFill/>
          <a:ln/>
        </p:spPr>
        <p:txBody>
          <a:bodyPr wrap="square" lIns="0" tIns="0" rIns="0" bIns="0" rtlCol="0" anchor="ctr"/>
          <a:lstStyle/>
          <a:p>
            <a:pPr marL="0" indent="0">
              <a:buNone/>
            </a:pPr>
            <a:r>
              <a:rPr lang="en-US" sz="1500" b="1" dirty="0">
                <a:solidFill>
                  <a:srgbClr val="1A2E35"/>
                </a:solidFill>
                <a:latin typeface="Calibri" pitchFamily="34" charset="0"/>
                <a:ea typeface="Calibri" pitchFamily="34" charset="-122"/>
                <a:cs typeface="Calibri" pitchFamily="34" charset="-120"/>
              </a:rPr>
              <a:t>Calibration</a:t>
            </a:r>
            <a:endParaRPr lang="en-US" sz="1500" dirty="0"/>
          </a:p>
        </p:txBody>
      </p:sp>
      <p:sp>
        <p:nvSpPr>
          <p:cNvPr id="11" name="Shape 9"/>
          <p:cNvSpPr/>
          <p:nvPr/>
        </p:nvSpPr>
        <p:spPr>
          <a:xfrm>
            <a:off x="4572000" y="2532888"/>
            <a:ext cx="4206240" cy="402336"/>
          </a:xfrm>
          <a:prstGeom prst="roundRect">
            <a:avLst>
              <a:gd name="adj" fmla="val 50000"/>
            </a:avLst>
          </a:prstGeom>
          <a:solidFill>
            <a:srgbClr val="00A896">
              <a:alpha val="15000"/>
            </a:srgbClr>
          </a:solidFill>
          <a:ln/>
        </p:spPr>
      </p:sp>
      <p:sp>
        <p:nvSpPr>
          <p:cNvPr id="12" name="Text 10"/>
          <p:cNvSpPr txBox="1"/>
          <p:nvPr/>
        </p:nvSpPr>
        <p:spPr>
          <a:xfrm>
            <a:off x="4572000" y="2505456"/>
            <a:ext cx="4206240" cy="457200"/>
          </a:xfrm>
          <a:prstGeom prst="rect">
            <a:avLst/>
          </a:prstGeom>
          <a:noFill/>
          <a:ln/>
        </p:spPr>
        <p:txBody>
          <a:bodyPr wrap="square" lIns="0" tIns="0" rIns="0" bIns="0" rtlCol="0" anchor="ctr"/>
          <a:lstStyle/>
          <a:p>
            <a:pPr marL="0" indent="0" algn="ctr">
              <a:buNone/>
            </a:pPr>
            <a:r>
              <a:rPr lang="en-US" sz="1300" b="1" dirty="0">
                <a:solidFill>
                  <a:srgbClr val="00A896"/>
                </a:solidFill>
                <a:latin typeface="Calibri" pitchFamily="34" charset="0"/>
                <a:ea typeface="Calibri" pitchFamily="34" charset="-122"/>
                <a:cs typeface="Calibri" pitchFamily="34" charset="-120"/>
              </a:rPr>
              <a:t>PASS (drift at extremes)</a:t>
            </a:r>
            <a:endParaRPr lang="en-US" sz="1300" dirty="0"/>
          </a:p>
        </p:txBody>
      </p:sp>
      <p:sp>
        <p:nvSpPr>
          <p:cNvPr id="13" name="Text 11"/>
          <p:cNvSpPr txBox="1"/>
          <p:nvPr/>
        </p:nvSpPr>
        <p:spPr>
          <a:xfrm>
            <a:off x="548640" y="3072384"/>
            <a:ext cx="3840480" cy="457200"/>
          </a:xfrm>
          <a:prstGeom prst="rect">
            <a:avLst/>
          </a:prstGeom>
          <a:noFill/>
          <a:ln/>
        </p:spPr>
        <p:txBody>
          <a:bodyPr wrap="square" lIns="0" tIns="0" rIns="0" bIns="0" rtlCol="0" anchor="ctr"/>
          <a:lstStyle/>
          <a:p>
            <a:pPr marL="0" indent="0">
              <a:buNone/>
            </a:pPr>
            <a:r>
              <a:rPr lang="en-US" sz="1500" b="1" dirty="0">
                <a:solidFill>
                  <a:srgbClr val="1A2E35"/>
                </a:solidFill>
                <a:latin typeface="Calibri" pitchFamily="34" charset="0"/>
                <a:ea typeface="Calibri" pitchFamily="34" charset="-122"/>
                <a:cs typeface="Calibri" pitchFamily="34" charset="-120"/>
              </a:rPr>
              <a:t>Interaction feature #1</a:t>
            </a:r>
            <a:endParaRPr lang="en-US" sz="1500" dirty="0"/>
          </a:p>
        </p:txBody>
      </p:sp>
      <p:sp>
        <p:nvSpPr>
          <p:cNvPr id="14" name="Shape 12"/>
          <p:cNvSpPr/>
          <p:nvPr/>
        </p:nvSpPr>
        <p:spPr>
          <a:xfrm>
            <a:off x="4572000" y="3099816"/>
            <a:ext cx="4206240" cy="402336"/>
          </a:xfrm>
          <a:prstGeom prst="roundRect">
            <a:avLst>
              <a:gd name="adj" fmla="val 50000"/>
            </a:avLst>
          </a:prstGeom>
          <a:solidFill>
            <a:srgbClr val="5C7A80">
              <a:alpha val="15000"/>
            </a:srgbClr>
          </a:solidFill>
          <a:ln/>
        </p:spPr>
      </p:sp>
      <p:sp>
        <p:nvSpPr>
          <p:cNvPr id="15" name="Text 13"/>
          <p:cNvSpPr txBox="1"/>
          <p:nvPr/>
        </p:nvSpPr>
        <p:spPr>
          <a:xfrm>
            <a:off x="4572000" y="3072384"/>
            <a:ext cx="4206240" cy="457200"/>
          </a:xfrm>
          <a:prstGeom prst="rect">
            <a:avLst/>
          </a:prstGeom>
          <a:noFill/>
          <a:ln/>
        </p:spPr>
        <p:txBody>
          <a:bodyPr wrap="square" lIns="0" tIns="0" rIns="0" bIns="0" rtlCol="0" anchor="ctr"/>
          <a:lstStyle/>
          <a:p>
            <a:pPr marL="0" indent="0" algn="ctr">
              <a:buNone/>
            </a:pPr>
            <a:r>
              <a:rPr lang="en-US" sz="1300" b="1" dirty="0">
                <a:solidFill>
                  <a:srgbClr val="5C7A80"/>
                </a:solidFill>
                <a:latin typeface="Calibri" pitchFamily="34" charset="0"/>
                <a:ea typeface="Calibri" pitchFamily="34" charset="-122"/>
                <a:cs typeface="Calibri" pitchFamily="34" charset="-120"/>
              </a:rPr>
              <a:t>Rejected — no improvement</a:t>
            </a:r>
            <a:endParaRPr lang="en-US" sz="1300" dirty="0"/>
          </a:p>
        </p:txBody>
      </p:sp>
      <p:sp>
        <p:nvSpPr>
          <p:cNvPr id="16" name="Text 14"/>
          <p:cNvSpPr txBox="1"/>
          <p:nvPr/>
        </p:nvSpPr>
        <p:spPr>
          <a:xfrm>
            <a:off x="548640" y="3639312"/>
            <a:ext cx="3840480" cy="457200"/>
          </a:xfrm>
          <a:prstGeom prst="rect">
            <a:avLst/>
          </a:prstGeom>
          <a:noFill/>
          <a:ln/>
        </p:spPr>
        <p:txBody>
          <a:bodyPr wrap="square" lIns="0" tIns="0" rIns="0" bIns="0" rtlCol="0" anchor="ctr"/>
          <a:lstStyle/>
          <a:p>
            <a:pPr marL="0" indent="0">
              <a:buNone/>
            </a:pPr>
            <a:r>
              <a:rPr lang="en-US" sz="1500" b="1" dirty="0">
                <a:solidFill>
                  <a:srgbClr val="1A2E35"/>
                </a:solidFill>
                <a:latin typeface="Calibri" pitchFamily="34" charset="0"/>
                <a:ea typeface="Calibri" pitchFamily="34" charset="-122"/>
                <a:cs typeface="Calibri" pitchFamily="34" charset="-120"/>
              </a:rPr>
              <a:t>Interaction feature #2</a:t>
            </a:r>
            <a:endParaRPr lang="en-US" sz="1500" dirty="0"/>
          </a:p>
        </p:txBody>
      </p:sp>
      <p:sp>
        <p:nvSpPr>
          <p:cNvPr id="17" name="Shape 15"/>
          <p:cNvSpPr/>
          <p:nvPr/>
        </p:nvSpPr>
        <p:spPr>
          <a:xfrm>
            <a:off x="4572000" y="3666744"/>
            <a:ext cx="4206240" cy="402336"/>
          </a:xfrm>
          <a:prstGeom prst="roundRect">
            <a:avLst>
              <a:gd name="adj" fmla="val 50000"/>
            </a:avLst>
          </a:prstGeom>
          <a:solidFill>
            <a:srgbClr val="5C7A80">
              <a:alpha val="15000"/>
            </a:srgbClr>
          </a:solidFill>
          <a:ln/>
        </p:spPr>
      </p:sp>
      <p:sp>
        <p:nvSpPr>
          <p:cNvPr id="18" name="Text 16"/>
          <p:cNvSpPr txBox="1"/>
          <p:nvPr/>
        </p:nvSpPr>
        <p:spPr>
          <a:xfrm>
            <a:off x="4572000" y="3639312"/>
            <a:ext cx="4206240" cy="457200"/>
          </a:xfrm>
          <a:prstGeom prst="rect">
            <a:avLst/>
          </a:prstGeom>
          <a:noFill/>
          <a:ln/>
        </p:spPr>
        <p:txBody>
          <a:bodyPr wrap="square" lIns="0" tIns="0" rIns="0" bIns="0" rtlCol="0" anchor="ctr"/>
          <a:lstStyle/>
          <a:p>
            <a:pPr marL="0" indent="0" algn="ctr">
              <a:buNone/>
            </a:pPr>
            <a:r>
              <a:rPr lang="en-US" sz="1300" b="1" dirty="0">
                <a:solidFill>
                  <a:srgbClr val="5C7A80"/>
                </a:solidFill>
                <a:latin typeface="Calibri" pitchFamily="34" charset="0"/>
                <a:ea typeface="Calibri" pitchFamily="34" charset="-122"/>
                <a:cs typeface="Calibri" pitchFamily="34" charset="-120"/>
              </a:rPr>
              <a:t>Rejected — zero effect</a:t>
            </a:r>
            <a:endParaRPr lang="en-US" sz="1300" dirty="0"/>
          </a:p>
        </p:txBody>
      </p:sp>
      <p:sp>
        <p:nvSpPr>
          <p:cNvPr id="19" name="Text 17"/>
          <p:cNvSpPr txBox="1"/>
          <p:nvPr/>
        </p:nvSpPr>
        <p:spPr>
          <a:xfrm>
            <a:off x="548640" y="4206240"/>
            <a:ext cx="3840480" cy="457200"/>
          </a:xfrm>
          <a:prstGeom prst="rect">
            <a:avLst/>
          </a:prstGeom>
          <a:noFill/>
          <a:ln/>
        </p:spPr>
        <p:txBody>
          <a:bodyPr wrap="square" lIns="0" tIns="0" rIns="0" bIns="0" rtlCol="0" anchor="ctr"/>
          <a:lstStyle/>
          <a:p>
            <a:pPr marL="0" indent="0">
              <a:buNone/>
            </a:pPr>
            <a:r>
              <a:rPr lang="en-US" sz="1500" b="1" dirty="0">
                <a:solidFill>
                  <a:srgbClr val="1A2E35"/>
                </a:solidFill>
                <a:latin typeface="Calibri" pitchFamily="34" charset="0"/>
                <a:ea typeface="Calibri" pitchFamily="34" charset="-122"/>
                <a:cs typeface="Calibri" pitchFamily="34" charset="-120"/>
              </a:rPr>
              <a:t>Segment error re-check</a:t>
            </a:r>
            <a:endParaRPr lang="en-US" sz="1500" dirty="0"/>
          </a:p>
        </p:txBody>
      </p:sp>
      <p:sp>
        <p:nvSpPr>
          <p:cNvPr id="20" name="Shape 18"/>
          <p:cNvSpPr/>
          <p:nvPr/>
        </p:nvSpPr>
        <p:spPr>
          <a:xfrm>
            <a:off x="4572000" y="4233672"/>
            <a:ext cx="4206240" cy="402336"/>
          </a:xfrm>
          <a:prstGeom prst="roundRect">
            <a:avLst>
              <a:gd name="adj" fmla="val 50000"/>
            </a:avLst>
          </a:prstGeom>
          <a:solidFill>
            <a:srgbClr val="C0392B">
              <a:alpha val="15000"/>
            </a:srgbClr>
          </a:solidFill>
          <a:ln/>
        </p:spPr>
      </p:sp>
      <p:sp>
        <p:nvSpPr>
          <p:cNvPr id="21" name="Text 19"/>
          <p:cNvSpPr txBox="1"/>
          <p:nvPr/>
        </p:nvSpPr>
        <p:spPr>
          <a:xfrm>
            <a:off x="4572000" y="4206240"/>
            <a:ext cx="4206240" cy="457200"/>
          </a:xfrm>
          <a:prstGeom prst="rect">
            <a:avLst/>
          </a:prstGeom>
          <a:noFill/>
          <a:ln/>
        </p:spPr>
        <p:txBody>
          <a:bodyPr wrap="square" lIns="0" tIns="0" rIns="0" bIns="0" rtlCol="0" anchor="ctr"/>
          <a:lstStyle/>
          <a:p>
            <a:pPr marL="0" indent="0" algn="ctr">
              <a:buNone/>
            </a:pPr>
            <a:r>
              <a:rPr lang="en-US" sz="1300" b="1" dirty="0">
                <a:solidFill>
                  <a:srgbClr val="C0392B"/>
                </a:solidFill>
                <a:latin typeface="Calibri" pitchFamily="34" charset="0"/>
                <a:ea typeface="Calibri" pitchFamily="34" charset="-122"/>
                <a:cs typeface="Calibri" pitchFamily="34" charset="-120"/>
              </a:rPr>
              <a:t>Open — unresolved</a:t>
            </a:r>
            <a:endParaRPr lang="en-US" sz="1300" dirty="0"/>
          </a:p>
        </p:txBody>
      </p:sp>
      <p:sp>
        <p:nvSpPr>
          <p:cNvPr id="22" name="Text 20"/>
          <p:cNvSpPr txBox="1"/>
          <p:nvPr/>
        </p:nvSpPr>
        <p:spPr>
          <a:xfrm>
            <a:off x="548640" y="4910328"/>
            <a:ext cx="11064240" cy="502920"/>
          </a:xfrm>
          <a:prstGeom prst="rect">
            <a:avLst/>
          </a:prstGeom>
          <a:noFill/>
          <a:ln/>
        </p:spPr>
        <p:txBody>
          <a:bodyPr wrap="square" lIns="0" tIns="0" rIns="0" bIns="0" rtlCol="0" anchor="ctr"/>
          <a:lstStyle/>
          <a:p>
            <a:pPr marL="0" indent="0">
              <a:buNone/>
            </a:pPr>
            <a:r>
              <a:rPr lang="en-US" sz="1400" i="1" dirty="0">
                <a:solidFill>
                  <a:srgbClr val="5C7A80"/>
                </a:solidFill>
                <a:latin typeface="Calibri" pitchFamily="34" charset="0"/>
                <a:ea typeface="Calibri" pitchFamily="34" charset="-122"/>
                <a:cs typeface="Calibri" pitchFamily="34" charset="-120"/>
              </a:rPr>
              <a:t>A tested-and-rejected idea is still progress — it closes an open question with real evidence instead of an assumption.</a:t>
            </a:r>
            <a:endParaRPr lang="en-US" sz="1400" dirty="0"/>
          </a:p>
        </p:txBody>
      </p:sp>
      <p:pic>
        <p:nvPicPr>
          <p:cNvPr id="25" name="Audio 24">
            <a:hlinkClick r:id="" action="ppaction://media"/>
            <a:extLst>
              <a:ext uri="{FF2B5EF4-FFF2-40B4-BE49-F238E27FC236}">
                <a16:creationId xmlns:a16="http://schemas.microsoft.com/office/drawing/2014/main" id="{DFCB1588-EEDC-BCF6-EF7D-5EE00520A16B}"/>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4529"/>
    </mc:Choice>
    <mc:Fallback xmlns="">
      <p:transition spd="slow" advTm="545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lIns="0" tIns="0" rIns="0" bIns="0" rtlCol="0" anchor="ctr"/>
          <a:lstStyle/>
          <a:p>
            <a:pPr marL="0" indent="0">
              <a:buNone/>
            </a:pPr>
            <a:r>
              <a:rPr lang="en-US" sz="2800" b="1" dirty="0">
                <a:solidFill>
                  <a:srgbClr val="1A2E35"/>
                </a:solidFill>
                <a:latin typeface="Cambria" pitchFamily="34" charset="0"/>
                <a:ea typeface="Cambria" pitchFamily="34" charset="-122"/>
                <a:cs typeface="Cambria" pitchFamily="34" charset="-120"/>
              </a:rPr>
              <a:t>Overall HealthConnect Solution</a:t>
            </a:r>
            <a:endParaRPr lang="en-US" sz="2800" dirty="0"/>
          </a:p>
        </p:txBody>
      </p:sp>
      <p:sp>
        <p:nvSpPr>
          <p:cNvPr id="3" name="Shape 1"/>
          <p:cNvSpPr/>
          <p:nvPr/>
        </p:nvSpPr>
        <p:spPr>
          <a:xfrm>
            <a:off x="548640" y="1371600"/>
            <a:ext cx="5440680" cy="2103120"/>
          </a:xfrm>
          <a:prstGeom prst="roundRect">
            <a:avLst>
              <a:gd name="adj" fmla="val 4348"/>
            </a:avLst>
          </a:prstGeom>
          <a:solidFill>
            <a:srgbClr val="FFFFFF"/>
          </a:solidFill>
          <a:ln w="15875">
            <a:solidFill>
              <a:srgbClr val="02C39A"/>
            </a:solidFill>
            <a:prstDash val="solid"/>
          </a:ln>
        </p:spPr>
      </p:sp>
      <p:sp>
        <p:nvSpPr>
          <p:cNvPr id="4" name="Text 2"/>
          <p:cNvSpPr txBox="1"/>
          <p:nvPr/>
        </p:nvSpPr>
        <p:spPr>
          <a:xfrm>
            <a:off x="822960" y="1554480"/>
            <a:ext cx="4937760" cy="457200"/>
          </a:xfrm>
          <a:prstGeom prst="rect">
            <a:avLst/>
          </a:prstGeom>
          <a:noFill/>
          <a:ln/>
        </p:spPr>
        <p:txBody>
          <a:bodyPr wrap="square" lIns="0" tIns="0" rIns="0" bIns="0" rtlCol="0" anchor="ctr"/>
          <a:lstStyle/>
          <a:p>
            <a:pPr marL="0" indent="0">
              <a:buNone/>
            </a:pPr>
            <a:r>
              <a:rPr lang="en-US" sz="1700" b="1" dirty="0">
                <a:solidFill>
                  <a:srgbClr val="02C39A"/>
                </a:solidFill>
                <a:latin typeface="Calibri" pitchFamily="34" charset="0"/>
                <a:ea typeface="Calibri" pitchFamily="34" charset="-122"/>
                <a:cs typeface="Calibri" pitchFamily="34" charset="-120"/>
              </a:rPr>
              <a:t>What it's good for</a:t>
            </a:r>
            <a:endParaRPr lang="en-US" sz="1700" dirty="0"/>
          </a:p>
        </p:txBody>
      </p:sp>
      <p:sp>
        <p:nvSpPr>
          <p:cNvPr id="5" name="Text 3"/>
          <p:cNvSpPr txBox="1"/>
          <p:nvPr/>
        </p:nvSpPr>
        <p:spPr>
          <a:xfrm>
            <a:off x="822960" y="2057400"/>
            <a:ext cx="4937760" cy="1280160"/>
          </a:xfrm>
          <a:prstGeom prst="rect">
            <a:avLst/>
          </a:prstGeom>
          <a:noFill/>
          <a:ln/>
        </p:spPr>
        <p:txBody>
          <a:bodyPr wrap="square" lIns="0" tIns="0" rIns="0" bIns="0" rtlCol="0" anchor="ctr"/>
          <a:lstStyle/>
          <a:p>
            <a:pPr marL="0" indent="0">
              <a:buNone/>
            </a:pPr>
            <a:r>
              <a:rPr lang="en-US" sz="1400" dirty="0">
                <a:solidFill>
                  <a:srgbClr val="1A2E35"/>
                </a:solidFill>
                <a:latin typeface="Calibri" pitchFamily="34" charset="0"/>
                <a:ea typeface="Calibri" pitchFamily="34" charset="-122"/>
                <a:cs typeface="Calibri" pitchFamily="34" charset="-120"/>
              </a:rPr>
              <a:t>Prioritising reminder calls and follow-up outreach toward patients most likely to miss their appointment.</a:t>
            </a:r>
            <a:endParaRPr lang="en-US" sz="1400" dirty="0"/>
          </a:p>
        </p:txBody>
      </p:sp>
      <p:sp>
        <p:nvSpPr>
          <p:cNvPr id="6" name="Shape 4"/>
          <p:cNvSpPr/>
          <p:nvPr/>
        </p:nvSpPr>
        <p:spPr>
          <a:xfrm>
            <a:off x="6355080" y="1371600"/>
            <a:ext cx="5440680" cy="2103120"/>
          </a:xfrm>
          <a:prstGeom prst="roundRect">
            <a:avLst>
              <a:gd name="adj" fmla="val 4348"/>
            </a:avLst>
          </a:prstGeom>
          <a:solidFill>
            <a:srgbClr val="FFFFFF"/>
          </a:solidFill>
          <a:ln w="15875">
            <a:solidFill>
              <a:srgbClr val="C0392B"/>
            </a:solidFill>
            <a:prstDash val="solid"/>
          </a:ln>
        </p:spPr>
      </p:sp>
      <p:sp>
        <p:nvSpPr>
          <p:cNvPr id="7" name="Text 5"/>
          <p:cNvSpPr txBox="1"/>
          <p:nvPr/>
        </p:nvSpPr>
        <p:spPr>
          <a:xfrm>
            <a:off x="6629400" y="1554480"/>
            <a:ext cx="4937760" cy="457200"/>
          </a:xfrm>
          <a:prstGeom prst="rect">
            <a:avLst/>
          </a:prstGeom>
          <a:noFill/>
          <a:ln/>
        </p:spPr>
        <p:txBody>
          <a:bodyPr wrap="square" lIns="0" tIns="0" rIns="0" bIns="0" rtlCol="0" anchor="ctr"/>
          <a:lstStyle/>
          <a:p>
            <a:pPr marL="0" indent="0">
              <a:buNone/>
            </a:pPr>
            <a:r>
              <a:rPr lang="en-US" sz="1700" b="1" dirty="0">
                <a:solidFill>
                  <a:srgbClr val="C0392B"/>
                </a:solidFill>
                <a:latin typeface="Calibri" pitchFamily="34" charset="0"/>
                <a:ea typeface="Calibri" pitchFamily="34" charset="-122"/>
                <a:cs typeface="Calibri" pitchFamily="34" charset="-120"/>
              </a:rPr>
              <a:t>What it's not for</a:t>
            </a:r>
            <a:endParaRPr lang="en-US" sz="1700" dirty="0"/>
          </a:p>
        </p:txBody>
      </p:sp>
      <p:sp>
        <p:nvSpPr>
          <p:cNvPr id="8" name="Text 6"/>
          <p:cNvSpPr txBox="1"/>
          <p:nvPr/>
        </p:nvSpPr>
        <p:spPr>
          <a:xfrm>
            <a:off x="6629400" y="2057400"/>
            <a:ext cx="4937760" cy="1280160"/>
          </a:xfrm>
          <a:prstGeom prst="rect">
            <a:avLst/>
          </a:prstGeom>
          <a:noFill/>
          <a:ln/>
        </p:spPr>
        <p:txBody>
          <a:bodyPr wrap="square" lIns="0" tIns="0" rIns="0" bIns="0" rtlCol="0" anchor="ctr"/>
          <a:lstStyle/>
          <a:p>
            <a:pPr marL="0" indent="0">
              <a:buNone/>
            </a:pPr>
            <a:r>
              <a:rPr lang="en-US" sz="1400" dirty="0">
                <a:solidFill>
                  <a:srgbClr val="1A2E35"/>
                </a:solidFill>
                <a:latin typeface="Calibri" pitchFamily="34" charset="0"/>
                <a:ea typeface="Calibri" pitchFamily="34" charset="-122"/>
                <a:cs typeface="Calibri" pitchFamily="34" charset="-120"/>
              </a:rPr>
              <a:t>Automated, consequential decisions (e.g. auto-rebooking) without a human reviewing the prediction first.</a:t>
            </a:r>
            <a:endParaRPr lang="en-US" sz="1400" dirty="0"/>
          </a:p>
        </p:txBody>
      </p:sp>
      <p:sp>
        <p:nvSpPr>
          <p:cNvPr id="9" name="Text 7"/>
          <p:cNvSpPr txBox="1"/>
          <p:nvPr/>
        </p:nvSpPr>
        <p:spPr>
          <a:xfrm>
            <a:off x="548640" y="3703320"/>
            <a:ext cx="5486400" cy="365760"/>
          </a:xfrm>
          <a:prstGeom prst="rect">
            <a:avLst/>
          </a:prstGeom>
          <a:noFill/>
          <a:ln/>
        </p:spPr>
        <p:txBody>
          <a:bodyPr wrap="square" lIns="0" tIns="0" rIns="0" bIns="0" rtlCol="0" anchor="ctr"/>
          <a:lstStyle/>
          <a:p>
            <a:pPr marL="0" indent="0">
              <a:buNone/>
            </a:pPr>
            <a:r>
              <a:rPr lang="en-US" sz="1600" b="1" dirty="0">
                <a:solidFill>
                  <a:srgbClr val="1A2E35"/>
                </a:solidFill>
                <a:latin typeface="Calibri" pitchFamily="34" charset="0"/>
                <a:ea typeface="Calibri" pitchFamily="34" charset="-122"/>
                <a:cs typeface="Calibri" pitchFamily="34" charset="-120"/>
              </a:rPr>
              <a:t>How the pieces connect</a:t>
            </a:r>
            <a:endParaRPr lang="en-US" sz="1600" dirty="0"/>
          </a:p>
        </p:txBody>
      </p:sp>
      <p:sp>
        <p:nvSpPr>
          <p:cNvPr id="10" name="Text 8"/>
          <p:cNvSpPr txBox="1"/>
          <p:nvPr/>
        </p:nvSpPr>
        <p:spPr>
          <a:xfrm>
            <a:off x="548640" y="4114800"/>
            <a:ext cx="11064240" cy="1005840"/>
          </a:xfrm>
          <a:prstGeom prst="rect">
            <a:avLst/>
          </a:prstGeom>
          <a:noFill/>
          <a:ln/>
        </p:spPr>
        <p:txBody>
          <a:bodyPr wrap="square" lIns="0" tIns="0" rIns="0" bIns="0" rtlCol="0" anchor="ctr"/>
          <a:lstStyle/>
          <a:p>
            <a:pPr marL="0" indent="0">
              <a:buNone/>
            </a:pPr>
            <a:r>
              <a:rPr lang="en-US" sz="1400" dirty="0">
                <a:solidFill>
                  <a:srgbClr val="5C7A80"/>
                </a:solidFill>
                <a:latin typeface="Calibri" pitchFamily="34" charset="0"/>
                <a:ea typeface="Calibri" pitchFamily="34" charset="-122"/>
                <a:cs typeface="Calibri" pitchFamily="34" charset="-120"/>
              </a:rPr>
              <a:t>Data Analytics' validated findings shaped my feature choices and error interpretation, and two of their suggested model refinements were tested and honestly reported back. The final, documented model and its technical requirements are complete and ready for the next stage of integration into the HealthConnect solution.</a:t>
            </a:r>
            <a:endParaRPr lang="en-US" sz="1400" dirty="0"/>
          </a:p>
        </p:txBody>
      </p:sp>
      <p:pic>
        <p:nvPicPr>
          <p:cNvPr id="11" name="Audio 10">
            <a:hlinkClick r:id="" action="ppaction://media"/>
            <a:extLst>
              <a:ext uri="{FF2B5EF4-FFF2-40B4-BE49-F238E27FC236}">
                <a16:creationId xmlns:a16="http://schemas.microsoft.com/office/drawing/2014/main" id="{FF9CD699-00ED-2508-B4D8-F676AB5F8484}"/>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60273"/>
    </mc:Choice>
    <mc:Fallback xmlns="">
      <p:transition spd="slow" advTm="602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E35"/>
        </a:solidFill>
        <a:effectLst/>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00A896">
              <a:alpha val="40000"/>
            </a:srgbClr>
          </a:solidFill>
          <a:ln/>
        </p:spPr>
      </p:sp>
      <p:sp>
        <p:nvSpPr>
          <p:cNvPr id="3" name="Text 1"/>
          <p:cNvSpPr txBox="1"/>
          <p:nvPr/>
        </p:nvSpPr>
        <p:spPr>
          <a:xfrm>
            <a:off x="822960" y="1280160"/>
            <a:ext cx="10058400" cy="457200"/>
          </a:xfrm>
          <a:prstGeom prst="rect">
            <a:avLst/>
          </a:prstGeom>
          <a:noFill/>
          <a:ln/>
        </p:spPr>
        <p:txBody>
          <a:bodyPr wrap="square" lIns="0" tIns="0" rIns="0" bIns="0" rtlCol="0" anchor="ctr"/>
          <a:lstStyle/>
          <a:p>
            <a:pPr marL="0" indent="0">
              <a:buNone/>
            </a:pPr>
            <a:r>
              <a:rPr lang="en-US" sz="1600" b="1" kern="0" spc="200" dirty="0">
                <a:solidFill>
                  <a:srgbClr val="02C39A"/>
                </a:solidFill>
                <a:latin typeface="Calibri" pitchFamily="34" charset="0"/>
                <a:ea typeface="Calibri" pitchFamily="34" charset="-122"/>
                <a:cs typeface="Calibri" pitchFamily="34" charset="-120"/>
              </a:rPr>
              <a:t>Key Takeaway</a:t>
            </a:r>
            <a:endParaRPr lang="en-US" sz="1600" dirty="0"/>
          </a:p>
        </p:txBody>
      </p:sp>
      <p:sp>
        <p:nvSpPr>
          <p:cNvPr id="4" name="Text 2"/>
          <p:cNvSpPr txBox="1"/>
          <p:nvPr/>
        </p:nvSpPr>
        <p:spPr>
          <a:xfrm>
            <a:off x="822960" y="1737360"/>
            <a:ext cx="10332720" cy="14630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Good data science isn't always finding an improvement —</a:t>
            </a:r>
            <a:endParaRPr lang="en-US" sz="2600" dirty="0"/>
          </a:p>
          <a:p>
            <a:pPr marL="0" indent="0">
              <a:buNone/>
            </a:pPr>
            <a:r>
              <a:rPr lang="en-US" sz="2600" b="1" dirty="0">
                <a:solidFill>
                  <a:srgbClr val="FFFFFF"/>
                </a:solidFill>
                <a:latin typeface="Cambria" pitchFamily="34" charset="0"/>
                <a:ea typeface="Cambria" pitchFamily="34" charset="-122"/>
                <a:cs typeface="Cambria" pitchFamily="34" charset="-120"/>
              </a:rPr>
              <a:t>it's testing rigorously and reporting honestly, even when the answer is “this didn't work.”</a:t>
            </a:r>
            <a:endParaRPr lang="en-US" sz="2600" dirty="0"/>
          </a:p>
        </p:txBody>
      </p:sp>
      <p:sp>
        <p:nvSpPr>
          <p:cNvPr id="5" name="Shape 3"/>
          <p:cNvSpPr/>
          <p:nvPr/>
        </p:nvSpPr>
        <p:spPr>
          <a:xfrm>
            <a:off x="822960" y="3383280"/>
            <a:ext cx="548640" cy="36576"/>
          </a:xfrm>
          <a:prstGeom prst="rect">
            <a:avLst/>
          </a:prstGeom>
          <a:solidFill>
            <a:srgbClr val="02C39A"/>
          </a:solidFill>
          <a:ln/>
        </p:spPr>
      </p:sp>
      <p:sp>
        <p:nvSpPr>
          <p:cNvPr id="6" name="Text 4"/>
          <p:cNvSpPr txBox="1"/>
          <p:nvPr/>
        </p:nvSpPr>
        <p:spPr>
          <a:xfrm>
            <a:off x="822960" y="3611880"/>
            <a:ext cx="10058400" cy="731520"/>
          </a:xfrm>
          <a:prstGeom prst="rect">
            <a:avLst/>
          </a:prstGeom>
          <a:noFill/>
          <a:ln/>
        </p:spPr>
        <p:txBody>
          <a:bodyPr wrap="square" lIns="0" tIns="0" rIns="0" bIns="0" rtlCol="0" anchor="ctr"/>
          <a:lstStyle/>
          <a:p>
            <a:pPr marL="0" indent="0">
              <a:buNone/>
            </a:pPr>
            <a:r>
              <a:rPr lang="en-US" sz="1500" dirty="0">
                <a:solidFill>
                  <a:srgbClr val="F7FAF9"/>
                </a:solidFill>
                <a:latin typeface="Calibri" pitchFamily="34" charset="0"/>
                <a:ea typeface="Calibri" pitchFamily="34" charset="-122"/>
                <a:cs typeface="Calibri" pitchFamily="34" charset="-120"/>
              </a:rPr>
              <a:t>With more time, I'd bring in an additional data source — the current features have a real predictive ceiling that further modelling alone can't push past.</a:t>
            </a:r>
            <a:endParaRPr lang="en-US" sz="1500" dirty="0"/>
          </a:p>
        </p:txBody>
      </p:sp>
      <p:sp>
        <p:nvSpPr>
          <p:cNvPr id="7" name="Text 5"/>
          <p:cNvSpPr txBox="1"/>
          <p:nvPr/>
        </p:nvSpPr>
        <p:spPr>
          <a:xfrm>
            <a:off x="822960" y="4663440"/>
            <a:ext cx="5486400" cy="457200"/>
          </a:xfrm>
          <a:prstGeom prst="rect">
            <a:avLst/>
          </a:prstGeom>
          <a:noFill/>
          <a:ln/>
        </p:spPr>
        <p:txBody>
          <a:bodyPr wrap="square" lIns="0" tIns="0" rIns="0" bIns="0" rtlCol="0" anchor="ctr"/>
          <a:lstStyle/>
          <a:p>
            <a:pPr marL="0" indent="0">
              <a:buNone/>
            </a:pPr>
            <a:r>
              <a:rPr lang="en-US" sz="1600" i="1" dirty="0">
                <a:solidFill>
                  <a:srgbClr val="5C7A80"/>
                </a:solidFill>
                <a:latin typeface="Calibri" pitchFamily="34" charset="0"/>
                <a:ea typeface="Calibri" pitchFamily="34" charset="-122"/>
                <a:cs typeface="Calibri" pitchFamily="34" charset="-120"/>
              </a:rPr>
              <a:t>Thank you.</a:t>
            </a:r>
            <a:endParaRPr lang="en-US" sz="1600" dirty="0"/>
          </a:p>
        </p:txBody>
      </p:sp>
      <p:pic>
        <p:nvPicPr>
          <p:cNvPr id="10" name="Audio 9">
            <a:hlinkClick r:id="" action="ppaction://media"/>
            <a:extLst>
              <a:ext uri="{FF2B5EF4-FFF2-40B4-BE49-F238E27FC236}">
                <a16:creationId xmlns:a16="http://schemas.microsoft.com/office/drawing/2014/main" id="{9AE7AA3E-4029-8B18-8458-287B4A223E8B}"/>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3401"/>
    </mc:Choice>
    <mc:Fallback xmlns="">
      <p:transition spd="slow" advTm="434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777</Words>
  <Application>Microsoft Office PowerPoint</Application>
  <PresentationFormat>Widescreen</PresentationFormat>
  <Paragraphs>81</Paragraphs>
  <Slides>7</Slides>
  <Notes>7</Notes>
  <HiddenSlides>0</HiddenSlides>
  <MMClips>7</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3</cp:revision>
  <dcterms:created xsi:type="dcterms:W3CDTF">2026-09-27T08:04:33Z</dcterms:created>
  <dcterms:modified xsi:type="dcterms:W3CDTF">2026-09-27T14:27:40Z</dcterms:modified>
</cp:coreProperties>
</file>